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86d9a4472d4ba7" /><Relationship Type="http://schemas.openxmlformats.org/officeDocument/2006/relationships/extended-properties" Target="/docProps/app.xml" Id="Re9dcf61e9c6b4319" /><Relationship Type="http://schemas.openxmlformats.org/officeDocument/2006/relationships/officeDocument" Target="/ppt/presentation.xml" Id="Rf97d2675c739495d" /></Relationships>
</file>

<file path=ppt/presentation.xml><?xml version="1.0" encoding="utf-8"?>
<p:presentation xmlns:p="http://schemas.openxmlformats.org/presentationml/2006/main">
  <p:sldMasterIdLst>
    <p:sldMasterId xmlns:r="http://schemas.openxmlformats.org/officeDocument/2006/relationships" id="2147483648" r:id="R75c39d5880a4486c"/>
  </p:sldMasterIdLst>
  <p:notesMasterIdLst>
    <p:notesMasterId xmlns:r="http://schemas.openxmlformats.org/officeDocument/2006/relationships" r:id="R670115d939b44b06"/>
  </p:notesMasterIdLst>
  <p:sldIdLst>
    <p:sldId xmlns:r="http://schemas.openxmlformats.org/officeDocument/2006/relationships" id="256" r:id="Ra8bbffb61e8f4cc5"/>
    <p:sldId xmlns:r="http://schemas.openxmlformats.org/officeDocument/2006/relationships" id="257" r:id="R2d6fb05df4d54093"/>
    <p:sldId xmlns:r="http://schemas.openxmlformats.org/officeDocument/2006/relationships" id="258" r:id="Rd27ed85343ca4b72"/>
    <p:sldId xmlns:r="http://schemas.openxmlformats.org/officeDocument/2006/relationships" id="259" r:id="Rcb3fa3c6424841c5"/>
    <p:sldId xmlns:r="http://schemas.openxmlformats.org/officeDocument/2006/relationships" id="260" r:id="R5c7d1b3573154d66"/>
    <p:sldId xmlns:r="http://schemas.openxmlformats.org/officeDocument/2006/relationships" id="261" r:id="R29f30e794aec405d"/>
    <p:sldId xmlns:r="http://schemas.openxmlformats.org/officeDocument/2006/relationships" id="262" r:id="R6c5a929e9f3949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e32197ff8a4953" /><Relationship Type="http://schemas.openxmlformats.org/officeDocument/2006/relationships/slideMaster" Target="/ppt/slideMasters/slideMaster1.xml" Id="R75c39d5880a4486c" /><Relationship Type="http://schemas.openxmlformats.org/officeDocument/2006/relationships/notesMaster" Target="/ppt/notesMasters/notesMaster1.xml" Id="R670115d939b44b06" /><Relationship Type="http://schemas.openxmlformats.org/officeDocument/2006/relationships/presProps" Target="/ppt/presProps.xml" Id="R07f32745a9864498" /><Relationship Type="http://schemas.openxmlformats.org/officeDocument/2006/relationships/tableStyles" Target="/ppt/tableStyles.xml" Id="R561483d18ae74933" /><Relationship Type="http://schemas.openxmlformats.org/officeDocument/2006/relationships/slide" Target="/ppt/slides/slide1.xml" Id="Ra8bbffb61e8f4cc5" /><Relationship Type="http://schemas.openxmlformats.org/officeDocument/2006/relationships/slide" Target="/ppt/slides/slide2.xml" Id="R2d6fb05df4d54093" /><Relationship Type="http://schemas.openxmlformats.org/officeDocument/2006/relationships/slide" Target="/ppt/slides/slide3.xml" Id="Rd27ed85343ca4b72" /><Relationship Type="http://schemas.openxmlformats.org/officeDocument/2006/relationships/slide" Target="/ppt/slides/slide4.xml" Id="Rcb3fa3c6424841c5" /><Relationship Type="http://schemas.openxmlformats.org/officeDocument/2006/relationships/slide" Target="/ppt/slides/slide5.xml" Id="R5c7d1b3573154d66" /><Relationship Type="http://schemas.openxmlformats.org/officeDocument/2006/relationships/slide" Target="/ppt/slides/slide6.xml" Id="R29f30e794aec405d" /><Relationship Type="http://schemas.openxmlformats.org/officeDocument/2006/relationships/slide" Target="/ppt/slides/slide7.xml" Id="R6c5a929e9f3949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546d2e706d48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b0d23098d643a3" /><Relationship Type="http://schemas.openxmlformats.org/officeDocument/2006/relationships/notesMaster" Target="/ppt/notesMasters/notesMaster1.xml" Id="R2139187633374d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d7da97d9dd4124" /><Relationship Type="http://schemas.openxmlformats.org/officeDocument/2006/relationships/notesMaster" Target="/ppt/notesMasters/notesMaster1.xml" Id="R41d6c6372f1d45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31194488cf4148" /><Relationship Type="http://schemas.openxmlformats.org/officeDocument/2006/relationships/notesMaster" Target="/ppt/notesMasters/notesMaster1.xml" Id="R5a320666119e4a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a98b4d6032417d" /><Relationship Type="http://schemas.openxmlformats.org/officeDocument/2006/relationships/notesMaster" Target="/ppt/notesMasters/notesMaster1.xml" Id="Rc4383d92ecb748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ae9334595f44a1" /><Relationship Type="http://schemas.openxmlformats.org/officeDocument/2006/relationships/notesMaster" Target="/ppt/notesMasters/notesMaster1.xml" Id="R08c82d9cc31742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7795b335b34ba2" /><Relationship Type="http://schemas.openxmlformats.org/officeDocument/2006/relationships/notesMaster" Target="/ppt/notesMasters/notesMaster1.xml" Id="Rbba93258faca42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2bd1eed21f4a3a" /><Relationship Type="http://schemas.openxmlformats.org/officeDocument/2006/relationships/notesMaster" Target="/ppt/notesMasters/notesMaster1.xml" Id="R5d112730bcde47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coding systems are fast at producing patches. PatchReceipt supplies the missing deterministic evidence layer: proof before 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around evidence quality, not distrust of AI. Existing tests are necessary, but they are not independent proof of the patch.</a:t>
            </a:r>
          </a:p>
          <a:p xmlns:a="http://schemas.openxmlformats.org/drawingml/2006/main">
            <a:r>
              <a:t/>
            </a:r>
          </a:p>
          <a:p xmlns:a="http://schemas.openxmlformats.org/drawingml/2006/main">
            <a:r>
              <a:t>[Sources]</a:t>
            </a:r>
          </a:p>
          <a:p xmlns:a="http://schemas.openxmlformats.org/drawingml/2006/main">
            <a:r>
              <a:t>- https://pitest.org/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plausible candidate live. The baseline bug is reproduced and the apparent fix passes, but independent case-variant and conflicting-value checks fail. Then open the robust receipt.</a:t>
            </a:r>
          </a:p>
          <a:p xmlns:a="http://schemas.openxmlformats.org/drawingml/2006/main">
            <a:r>
              <a:t/>
            </a:r>
          </a:p>
          <a:p xmlns:a="http://schemas.openxmlformats.org/drawingml/2006/main">
            <a:r>
              <a:t>[Sources]</a:t>
            </a:r>
          </a:p>
          <a:p xmlns:a="http://schemas.openxmlformats.org/drawingml/2006/main">
            <a:r>
              <a:t>- Local evidence: target/evaluation-receipts/*.json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verdict is gate-based. A correctness or safety failure always rejects. Partial means correctness passed but confidence is incomplete. Verified requires every mandatory evidence item.</a:t>
            </a:r>
          </a:p>
          <a:p xmlns:a="http://schemas.openxmlformats.org/drawingml/2006/main">
            <a:r>
              <a:t/>
            </a:r>
          </a:p>
          <a:p xmlns:a="http://schemas.openxmlformats.org/drawingml/2006/main">
            <a:r>
              <a:t>[Sources]</a:t>
            </a:r>
          </a:p>
          <a:p xmlns:a="http://schemas.openxmlformats.org/drawingml/2006/main">
            <a:r>
              <a:t>- Local architecture: docs/ARCHITECTURE.md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describe the container as an arbitrary-code sandbox. The hosted safety claim comes primarily from executing only bundled, hash-allowlisted fixtures.</a:t>
            </a:r>
          </a:p>
          <a:p xmlns:a="http://schemas.openxmlformats.org/drawingml/2006/main">
            <a:r>
              <a:t/>
            </a:r>
          </a:p>
          <a:p xmlns:a="http://schemas.openxmlformats.org/drawingml/2006/main">
            <a:r>
              <a:t>[Sources]</a:t>
            </a:r>
          </a:p>
          <a:p xmlns:a="http://schemas.openxmlformats.org/drawingml/2006/main">
            <a:r>
              <a:t>- Local threat model: docs/SECURITY.md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come from the frozen Java 21 evaluation. The 25.9-second figure is the final packaged public-candidate run (25.943 seconds measured); deployed p95 remains pending until the service is hosted.</a:t>
            </a:r>
          </a:p>
          <a:p xmlns:a="http://schemas.openxmlformats.org/drawingml/2006/main">
            <a:r>
              <a:t/>
            </a:r>
          </a:p>
          <a:p xmlns:a="http://schemas.openxmlformats.org/drawingml/2006/main">
            <a:r>
              <a:t>[Sources]</a:t>
            </a:r>
          </a:p>
          <a:p xmlns:a="http://schemas.openxmlformats.org/drawingml/2006/main">
            <a:r>
              <a:t>- Local evidence: docs/EVALUATION.md</a:t>
            </a:r>
          </a:p>
          <a:p xmlns:a="http://schemas.openxmlformats.org/drawingml/2006/main">
            <a:r>
              <a:t>- Local evidence: docs/evidence/evaluation-summary.json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proposition. The user created and directed PatchReceipt, made the final product decisions, and used Codex as an engineering assistant for planning, implementation, testing, debugging, evaluation, documentation, and deployment preparation.</a:t>
            </a:r>
          </a:p>
          <a:p xmlns:a="http://schemas.openxmlformats.org/drawingml/2006/main">
            <a:r>
              <a:t/>
            </a:r>
          </a:p>
          <a:p xmlns:a="http://schemas.openxmlformats.org/drawingml/2006/main">
            <a:r>
              <a:t>[Sources]</a:t>
            </a:r>
          </a:p>
          <a:p xmlns:a="http://schemas.openxmlformats.org/drawingml/2006/main">
            <a:r>
              <a:t>- Local evidence: CODEX_JOURNAL.md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61df29d18f46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f42f73a532442e" /><Relationship Type="http://schemas.openxmlformats.org/officeDocument/2006/relationships/slideLayout" Target="/ppt/slideLayouts/slideLayout1.xml" Id="R3d6d060542a448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6d060542a448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c8487cf76a411d" /><Relationship Type="http://schemas.openxmlformats.org/officeDocument/2006/relationships/notesSlide" Target="/ppt/notesSlides/notesSlide1.xml" Id="R5f7b4b53f8e442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637c1cfc584061" /><Relationship Type="http://schemas.openxmlformats.org/officeDocument/2006/relationships/notesSlide" Target="/ppt/notesSlides/notesSlide2.xml" Id="R4428862224ec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cee73cc2d24380" /><Relationship Type="http://schemas.openxmlformats.org/officeDocument/2006/relationships/notesSlide" Target="/ppt/notesSlides/notesSlide3.xml" Id="R90237f6f2cda4f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1d2d74b746411e" /><Relationship Type="http://schemas.openxmlformats.org/officeDocument/2006/relationships/notesSlide" Target="/ppt/notesSlides/notesSlide4.xml" Id="R8b364c58c3e849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7b88a8ae0944d8" /><Relationship Type="http://schemas.openxmlformats.org/officeDocument/2006/relationships/notesSlide" Target="/ppt/notesSlides/notesSlide5.xml" Id="R847270b8d03f45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65d4cf52bb4602" /><Relationship Type="http://schemas.openxmlformats.org/officeDocument/2006/relationships/notesSlide" Target="/ppt/notesSlides/notesSlide6.xml" Id="Rd98ba1c53fd445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9a679d2b864b47" /><Relationship Type="http://schemas.openxmlformats.org/officeDocument/2006/relationships/notesSlide" Target="/ppt/notesSlides/notesSlide7.xml" Id="R92f19701d20d4b8c" /></Relationships>
</file>

<file path=ppt/slides/slide1.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5D8E785A-F8E2-432F-B0B2-881489CBB102}"/>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5000"/>
              </a:lnSpc>
              <a:buNone/>
              <a:defRPr sz="6000">
                <a:solidFill>
                  <a:srgbClr val="000000"/>
                </a:solidFill>
                <a:latin typeface="Helvetica Neue"/>
                <a:ea typeface="Helvetica Neue"/>
                <a:cs typeface="Helvetica Neue"/>
              </a:defRPr>
            </a:pPr>
            <a:r>
              <a:rPr sz="6000" b="1">
                <a:solidFill>
                  <a:srgbClr val="121510"/>
                </a:solidFill>
                <a:latin typeface="Aptos"/>
                <a:ea typeface="Aptos"/>
                <a:cs typeface="Aptos"/>
              </a:rPr>
              <a:t>PatchReceipt</a:t>
            </a:r>
          </a:p>
        </p:txBody>
      </p:sp>
      <p:sp>
        <p:nvSpPr>
          <p:cNvPr id="2" name="Subtitle-4-2">
            <a:extLst xmlns:a="http://schemas.openxmlformats.org/drawingml/2006/main">
              <a:ext uri="{FF2B5EF4-FFF2-40B4-BE49-F238E27FC236}">
                <a16:creationId xmlns:a16="http://schemas.microsoft.com/office/drawing/2014/main" id="{24001B92-523B-420B-B721-3113F5B3AEC9}"/>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0">
                <a:solidFill>
                  <a:srgbClr val="121510"/>
                </a:solidFill>
                <a:latin typeface="Aptos"/>
                <a:ea typeface="Aptos"/>
                <a:cs typeface="Aptos"/>
              </a:rPr>
              <a:t>AI writes the patch.</a:t>
            </a:r>
            <a:r>
              <a:rPr sz="2100" b="0">
                <a:solidFill>
                  <a:srgbClr val="121510"/>
                </a:solidFill>
                <a:latin typeface="Aptos"/>
                <a:ea typeface="Aptos"/>
                <a:cs typeface="Aptos"/>
              </a:rPr>
              <a:t>
PatchReceipt proves whether it deserves to ship.</a:t>
            </a:r>
          </a:p>
        </p:txBody>
      </p:sp>
      <p:sp>
        <p:nvSpPr>
          <p:cNvPr id="3" name="Subtitle-4-3">
            <a:extLst xmlns:a="http://schemas.openxmlformats.org/drawingml/2006/main">
              <a:ext uri="{FF2B5EF4-FFF2-40B4-BE49-F238E27FC236}">
                <a16:creationId xmlns:a16="http://schemas.microsoft.com/office/drawing/2014/main" id="{A39B2FFE-BF95-42D5-9332-CA3AB1C2050B}"/>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350" b="1">
                <a:solidFill>
                  <a:srgbClr val="5B6256"/>
                </a:solidFill>
                <a:latin typeface="Aptos"/>
                <a:ea typeface="Aptos"/>
                <a:cs typeface="Aptos"/>
              </a:rPr>
              <a:t>CHATGPT CODEX HACKATHON 2026</a:t>
            </a:r>
          </a:p>
        </p:txBody>
      </p:sp>
      <p:sp>
        <p:nvSpPr>
          <p:cNvPr id="4" name="title-accent">
            <a:extLst xmlns:a="http://schemas.openxmlformats.org/drawingml/2006/main">
              <a:ext uri="{FF2B5EF4-FFF2-40B4-BE49-F238E27FC236}">
                <a16:creationId xmlns:a16="http://schemas.microsoft.com/office/drawing/2014/main" id="{B4799D49-A67C-4AEB-BCF9-5CDB5BCE3463}"/>
              </a:ext>
            </a:extLst>
          </p:cNvPr>
          <p:cNvSpPr>
            <a:spLocks xmlns:a="http://schemas.openxmlformats.org/drawingml/2006/main" noGrp="1"/>
          </p:cNvSpPr>
          <p:nvPr/>
        </p:nvSpPr>
        <p:spPr>
          <a:xfrm xmlns:a="http://schemas.openxmlformats.org/drawingml/2006/main">
            <a:off x="390525" y="4324350"/>
            <a:ext cx="8858250" cy="133350"/>
          </a:xfrm>
          <a:prstGeom xmlns:a="http://schemas.openxmlformats.org/drawingml/2006/main" prst="rect">
            <a:avLst/>
          </a:prstGeom>
          <a:solidFill xmlns:a="http://schemas.openxmlformats.org/drawingml/2006/main">
            <a:srgbClr val="C7FF38"/>
          </a:solidFill>
          <a:ln xmlns:a="http://schemas.openxmlformats.org/drawingml/2006/main" w="0">
            <a:solidFill>
              <a:srgbClr val="C7FF38"/>
            </a:solidFill>
            <a:prstDash val="solid"/>
          </a:ln>
        </p:spPr>
      </p:sp>
    </p:spTree>
    <p:extLst>
      <p:ext uri="{BB962C8B-B14F-4D97-AF65-F5344CB8AC3E}">
        <p14:creationId xmlns:p14="http://schemas.microsoft.com/office/powerpoint/2010/main" val="1476643261"/>
      </p:ext>
    </p:extLst>
  </p:cSld>
</p:sld>
</file>

<file path=ppt/slides/slide2.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DCA9E71D-203E-452D-9EC6-03436195772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02</a:t>
            </a:r>
          </a:p>
        </p:txBody>
      </p:sp>
      <p:sp>
        <p:nvSpPr>
          <p:cNvPr id="2" name="Google-Shape-533-p58-3">
            <a:extLst xmlns:a="http://schemas.openxmlformats.org/drawingml/2006/main">
              <a:ext uri="{FF2B5EF4-FFF2-40B4-BE49-F238E27FC236}">
                <a16:creationId xmlns:a16="http://schemas.microsoft.com/office/drawing/2014/main" id="{E3419BF7-0752-443F-9F81-2BCAD68E429E}"/>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900">
                <a:solidFill>
                  <a:srgbClr val="000000"/>
                </a:solidFill>
                <a:latin typeface="Helvetica Neue"/>
                <a:ea typeface="Helvetica Neue"/>
                <a:cs typeface="Helvetica Neue"/>
              </a:defRPr>
            </a:pPr>
            <a:r>
              <a:rPr sz="2925" b="1">
                <a:solidFill>
                  <a:srgbClr val="121510"/>
                </a:solidFill>
                <a:latin typeface="Aptos"/>
                <a:ea typeface="Aptos"/>
                <a:cs typeface="Aptos"/>
              </a:rPr>
              <a:t>A green test suite is not proof</a:t>
            </a:r>
          </a:p>
        </p:txBody>
      </p:sp>
      <p:sp>
        <p:nvSpPr>
          <p:cNvPr id="3" name="Rounded-Rectangle-1-4">
            <a:extLst xmlns:a="http://schemas.openxmlformats.org/drawingml/2006/main">
              <a:ext uri="{FF2B5EF4-FFF2-40B4-BE49-F238E27FC236}">
                <a16:creationId xmlns:a16="http://schemas.microsoft.com/office/drawing/2014/main" id="{5856B0BA-0552-45FA-9569-DBAE77F9B03E}"/>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9B3C9FC3-82C2-4AF0-92B0-A127D1D92965}"/>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250" b="1">
                <a:solidFill>
                  <a:srgbClr val="121510"/>
                </a:solidFill>
                <a:latin typeface="Aptos"/>
                <a:ea typeface="Aptos"/>
                <a:cs typeface="Aptos"/>
              </a:rPr>
              <a:t>Ordinary CI</a:t>
            </a:r>
          </a:p>
        </p:txBody>
      </p:sp>
      <p:sp>
        <p:nvSpPr>
          <p:cNvPr id="5" name="Content-Placeholder-15-6">
            <a:extLst xmlns:a="http://schemas.openxmlformats.org/drawingml/2006/main">
              <a:ext uri="{FF2B5EF4-FFF2-40B4-BE49-F238E27FC236}">
                <a16:creationId xmlns:a16="http://schemas.microsoft.com/office/drawing/2014/main" id="{D9B2A31F-6F41-49E0-B0D8-C3084954464E}"/>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500" b="0">
                <a:solidFill>
                  <a:srgbClr val="5B6256"/>
                </a:solidFill>
                <a:latin typeface="Aptos"/>
                <a:ea typeface="Aptos"/>
                <a:cs typeface="Aptos"/>
              </a:rPr>
              <a:t>✓ Existing tests pass</a:t>
            </a:r>
          </a:p>
          <a:p xmlns:a="http://schemas.openxmlformats.org/drawingml/2006/main">
            <a:pPr algn="l">
              <a:lnSpc>
                <a:spcPct val="105000"/>
              </a:lnSpc>
              <a:buNone/>
              <a:defRPr sz="1600">
                <a:solidFill>
                  <a:srgbClr val="000000"/>
                </a:solidFill>
                <a:latin typeface="Helvetica Neue"/>
                <a:ea typeface="Helvetica Neue"/>
                <a:cs typeface="Helvetica Neue"/>
              </a:defRPr>
            </a:pPr>
            <a:r>
              <a:rPr sz="1500" b="0">
                <a:solidFill>
                  <a:srgbClr val="E65C4F"/>
                </a:solidFill>
                <a:latin typeface="Aptos"/>
                <a:ea typeface="Aptos"/>
                <a:cs typeface="Aptos"/>
              </a:rPr>
              <a:t>✗ Bug may not be reproduced</a:t>
            </a:r>
          </a:p>
          <a:p xmlns:a="http://schemas.openxmlformats.org/drawingml/2006/main">
            <a:pPr algn="l">
              <a:lnSpc>
                <a:spcPct val="105000"/>
              </a:lnSpc>
              <a:buNone/>
              <a:defRPr sz="1600">
                <a:solidFill>
                  <a:srgbClr val="000000"/>
                </a:solidFill>
                <a:latin typeface="Helvetica Neue"/>
                <a:ea typeface="Helvetica Neue"/>
                <a:cs typeface="Helvetica Neue"/>
              </a:defRPr>
            </a:pPr>
            <a:r>
              <a:rPr sz="1500" b="0">
                <a:solidFill>
                  <a:srgbClr val="E65C4F"/>
                </a:solidFill>
                <a:latin typeface="Aptos"/>
                <a:ea typeface="Aptos"/>
                <a:cs typeface="Aptos"/>
              </a:rPr>
              <a:t>✗ No proof of test strength</a:t>
            </a:r>
          </a:p>
        </p:txBody>
      </p:sp>
      <p:sp>
        <p:nvSpPr>
          <p:cNvPr id="6" name="Rounded-Rectangle-7-7">
            <a:extLst xmlns:a="http://schemas.openxmlformats.org/drawingml/2006/main">
              <a:ext uri="{FF2B5EF4-FFF2-40B4-BE49-F238E27FC236}">
                <a16:creationId xmlns:a16="http://schemas.microsoft.com/office/drawing/2014/main" id="{2F7C41C9-3368-4028-A1F7-A5E4AF3C4AE2}"/>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10587AC2-1E9E-4C5E-A428-A9CFACED66D1}"/>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250" b="1">
                <a:solidFill>
                  <a:srgbClr val="121510"/>
                </a:solidFill>
                <a:latin typeface="Aptos"/>
                <a:ea typeface="Aptos"/>
                <a:cs typeface="Aptos"/>
              </a:rPr>
              <a:t>PatchReceipt</a:t>
            </a:r>
          </a:p>
        </p:txBody>
      </p:sp>
      <p:sp>
        <p:nvSpPr>
          <p:cNvPr id="8" name="Content-Placeholder-15-9">
            <a:extLst xmlns:a="http://schemas.openxmlformats.org/drawingml/2006/main">
              <a:ext uri="{FF2B5EF4-FFF2-40B4-BE49-F238E27FC236}">
                <a16:creationId xmlns:a16="http://schemas.microsoft.com/office/drawing/2014/main" id="{FC4B24C6-E483-4407-B1A3-AE0E139E56F5}"/>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500" b="0">
                <a:solidFill>
                  <a:srgbClr val="121510"/>
                </a:solidFill>
                <a:latin typeface="Aptos"/>
                <a:ea typeface="Aptos"/>
                <a:cs typeface="Aptos"/>
              </a:rPr>
              <a:t>✓ Proves before → after</a:t>
            </a:r>
          </a:p>
          <a:p xmlns:a="http://schemas.openxmlformats.org/drawingml/2006/main">
            <a:pPr algn="l">
              <a:lnSpc>
                <a:spcPct val="105000"/>
              </a:lnSpc>
              <a:buNone/>
              <a:defRPr sz="1600">
                <a:solidFill>
                  <a:srgbClr val="000000"/>
                </a:solidFill>
                <a:latin typeface="Helvetica Neue"/>
                <a:ea typeface="Helvetica Neue"/>
                <a:cs typeface="Helvetica Neue"/>
              </a:defRPr>
            </a:pPr>
            <a:r>
              <a:rPr sz="1500" b="0">
                <a:solidFill>
                  <a:srgbClr val="121510"/>
                </a:solidFill>
                <a:latin typeface="Aptos"/>
                <a:ea typeface="Aptos"/>
                <a:cs typeface="Aptos"/>
              </a:rPr>
              <a:t>✓ Sealed edge cases + PIT</a:t>
            </a:r>
          </a:p>
          <a:p xmlns:a="http://schemas.openxmlformats.org/drawingml/2006/main">
            <a:pPr algn="l">
              <a:lnSpc>
                <a:spcPct val="105000"/>
              </a:lnSpc>
              <a:buNone/>
              <a:defRPr sz="1600">
                <a:solidFill>
                  <a:srgbClr val="000000"/>
                </a:solidFill>
                <a:latin typeface="Helvetica Neue"/>
                <a:ea typeface="Helvetica Neue"/>
                <a:cs typeface="Helvetica Neue"/>
              </a:defRPr>
            </a:pPr>
            <a:r>
              <a:rPr sz="1500" b="0">
                <a:solidFill>
                  <a:srgbClr val="121510"/>
                </a:solidFill>
                <a:latin typeface="Aptos"/>
                <a:ea typeface="Aptos"/>
                <a:cs typeface="Aptos"/>
              </a:rPr>
              <a:t>✓ Scope and evidence receipt</a:t>
            </a:r>
          </a:p>
        </p:txBody>
      </p:sp>
      <p:sp>
        <p:nvSpPr>
          <p:cNvPr id="9" name="Content-Placeholder-15-10">
            <a:extLst xmlns:a="http://schemas.openxmlformats.org/drawingml/2006/main">
              <a:ext uri="{FF2B5EF4-FFF2-40B4-BE49-F238E27FC236}">
                <a16:creationId xmlns:a16="http://schemas.microsoft.com/office/drawing/2014/main" id="{8C9AE5F7-5B92-4552-B7F9-22683331F018}"/>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350" b="1">
                <a:solidFill>
                  <a:srgbClr val="5B6256"/>
                </a:solidFill>
                <a:latin typeface="Aptos"/>
                <a:ea typeface="Aptos"/>
                <a:cs typeface="Aptos"/>
              </a:rPr>
              <a:t>THE GAP</a:t>
            </a:r>
          </a:p>
          <a:p xmlns:a="http://schemas.openxmlformats.org/drawingml/2006/main">
            <a:pPr algn="l">
              <a:lnSpc>
                <a:spcPct val="105000"/>
              </a:lnSpc>
              <a:buNone/>
              <a:defRPr sz="1600">
                <a:solidFill>
                  <a:srgbClr val="000000"/>
                </a:solidFill>
                <a:latin typeface="Helvetica Neue"/>
                <a:ea typeface="Helvetica Neue"/>
                <a:cs typeface="Helvetica Neue"/>
              </a:defRPr>
            </a:pPr>
            <a:r>
              <a:rPr sz="1875" b="0">
                <a:solidFill>
                  <a:srgbClr val="121510"/>
                </a:solidFill>
                <a:latin typeface="Aptos"/>
                <a:ea typeface="Aptos"/>
                <a:cs typeface="Aptos"/>
              </a:rPr>
              <a:t>AI patches can satisfy the reported example while failing retries, casing, mutation pressure, or scope policy.</a:t>
            </a:r>
          </a:p>
          <a:p xmlns:a="http://schemas.openxmlformats.org/drawingml/2006/main">
            <a:pPr algn="l">
              <a:lnSpc>
                <a:spcPct val="105000"/>
              </a:lnSpc>
              <a:buNone/>
              <a:defRPr sz="1600">
                <a:solidFill>
                  <a:srgbClr val="000000"/>
                </a:solidFill>
                <a:latin typeface="Helvetica Neue"/>
                <a:ea typeface="Helvetica Neue"/>
                <a:cs typeface="Helvetica Neue"/>
              </a:defRPr>
            </a:pPr>
            <a:r>
              <a:rPr sz="1650" b="0">
                <a:solidFill>
                  <a:srgbClr val="5B6256"/>
                </a:solidFill>
                <a:latin typeface="Aptos"/>
                <a:ea typeface="Aptos"/>
                <a:cs typeface="Aptos"/>
              </a:rPr>
              <a:t>Reviewers need evidence that is reproducible, independent, and explainable.</a:t>
            </a:r>
          </a:p>
        </p:txBody>
      </p:sp>
      <p:sp>
        <p:nvSpPr>
          <p:cNvPr id="10" name="ci-warning">
            <a:extLst xmlns:a="http://schemas.openxmlformats.org/drawingml/2006/main">
              <a:ext uri="{FF2B5EF4-FFF2-40B4-BE49-F238E27FC236}">
                <a16:creationId xmlns:a16="http://schemas.microsoft.com/office/drawing/2014/main" id="{0D08EB29-B71D-4555-82A9-1FCC5C7F465F}"/>
              </a:ext>
            </a:extLst>
          </p:cNvPr>
          <p:cNvSpPr>
            <a:spLocks xmlns:a="http://schemas.openxmlformats.org/drawingml/2006/main" noGrp="1"/>
          </p:cNvSpPr>
          <p:nvPr/>
        </p:nvSpPr>
        <p:spPr>
          <a:xfrm xmlns:a="http://schemas.openxmlformats.org/drawingml/2006/main">
            <a:off x="400050" y="3343275"/>
            <a:ext cx="5534025" cy="95250"/>
          </a:xfrm>
          <a:prstGeom xmlns:a="http://schemas.openxmlformats.org/drawingml/2006/main" prst="rect">
            <a:avLst/>
          </a:prstGeom>
          <a:solidFill xmlns:a="http://schemas.openxmlformats.org/drawingml/2006/main">
            <a:srgbClr val="E65C4F"/>
          </a:solidFill>
          <a:ln xmlns:a="http://schemas.openxmlformats.org/drawingml/2006/main" w="0">
            <a:solidFill>
              <a:srgbClr val="E65C4F"/>
            </a:solidFill>
            <a:prstDash val="solid"/>
          </a:ln>
        </p:spPr>
      </p:sp>
      <p:sp>
        <p:nvSpPr>
          <p:cNvPr id="11" name="receipt-proof">
            <a:extLst xmlns:a="http://schemas.openxmlformats.org/drawingml/2006/main">
              <a:ext uri="{FF2B5EF4-FFF2-40B4-BE49-F238E27FC236}">
                <a16:creationId xmlns:a16="http://schemas.microsoft.com/office/drawing/2014/main" id="{EEFEB42E-BA4D-42C1-AD0D-5BCF975B274D}"/>
              </a:ext>
            </a:extLst>
          </p:cNvPr>
          <p:cNvSpPr>
            <a:spLocks xmlns:a="http://schemas.openxmlformats.org/drawingml/2006/main" noGrp="1"/>
          </p:cNvSpPr>
          <p:nvPr/>
        </p:nvSpPr>
        <p:spPr>
          <a:xfrm xmlns:a="http://schemas.openxmlformats.org/drawingml/2006/main">
            <a:off x="6257925" y="3343275"/>
            <a:ext cx="5534025" cy="95250"/>
          </a:xfrm>
          <a:prstGeom xmlns:a="http://schemas.openxmlformats.org/drawingml/2006/main" prst="rect">
            <a:avLst/>
          </a:prstGeom>
          <a:solidFill xmlns:a="http://schemas.openxmlformats.org/drawingml/2006/main">
            <a:srgbClr val="C7FF38"/>
          </a:solidFill>
          <a:ln xmlns:a="http://schemas.openxmlformats.org/drawingml/2006/main" w="0">
            <a:solidFill>
              <a:srgbClr val="C7FF38"/>
            </a:solidFill>
            <a:prstDash val="solid"/>
          </a:ln>
        </p:spPr>
      </p:sp>
    </p:spTree>
    <p:extLst>
      <p:ext uri="{BB962C8B-B14F-4D97-AF65-F5344CB8AC3E}">
        <p14:creationId xmlns:p14="http://schemas.microsoft.com/office/powerpoint/2010/main" val="746920853"/>
      </p:ext>
    </p:extLst>
  </p:cSld>
</p:sld>
</file>

<file path=ppt/slides/slide3.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237966BA-FF38-444E-ADFE-14905F6FF26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03</a:t>
            </a:r>
          </a:p>
        </p:txBody>
      </p:sp>
      <p:sp>
        <p:nvSpPr>
          <p:cNvPr id="2" name="Google-Shape-533-p58-3">
            <a:extLst xmlns:a="http://schemas.openxmlformats.org/drawingml/2006/main">
              <a:ext uri="{FF2B5EF4-FFF2-40B4-BE49-F238E27FC236}">
                <a16:creationId xmlns:a16="http://schemas.microsoft.com/office/drawing/2014/main" id="{CC34D365-073D-4D9E-B2C5-435AB9D47CC6}"/>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900">
                <a:solidFill>
                  <a:srgbClr val="000000"/>
                </a:solidFill>
                <a:latin typeface="Helvetica Neue"/>
                <a:ea typeface="Helvetica Neue"/>
                <a:cs typeface="Helvetica Neue"/>
              </a:defRPr>
            </a:pPr>
            <a:r>
              <a:rPr sz="2850" b="1">
                <a:solidFill>
                  <a:srgbClr val="121510"/>
                </a:solidFill>
                <a:latin typeface="Aptos"/>
                <a:ea typeface="Aptos"/>
                <a:cs typeface="Aptos"/>
              </a:rPr>
              <a:t>One bug. Three plausible patches. Three defensible verdicts.</a:t>
            </a:r>
          </a:p>
        </p:txBody>
      </p:sp>
      <p:sp>
        <p:nvSpPr>
          <p:cNvPr id="3" name="Rounded-Rectangle-9-4">
            <a:extLst xmlns:a="http://schemas.openxmlformats.org/drawingml/2006/main">
              <a:ext uri="{FF2B5EF4-FFF2-40B4-BE49-F238E27FC236}">
                <a16:creationId xmlns:a16="http://schemas.microsoft.com/office/drawing/2014/main" id="{A8ECE143-737A-4C13-B955-2EA805A25D34}"/>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200146A2-DA6D-404E-851B-BA3153D8F204}"/>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670F090E-830A-447D-B857-5E02C3DB7166}"/>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950" b="1">
                <a:solidFill>
                  <a:srgbClr val="EAB84B"/>
                </a:solidFill>
                <a:latin typeface="Aptos"/>
                <a:ea typeface="Aptos"/>
                <a:cs typeface="Aptos"/>
              </a:rPr>
              <a:t>PARTIAL</a:t>
            </a:r>
          </a:p>
          <a:p xmlns:a="http://schemas.openxmlformats.org/drawingml/2006/main">
            <a:pPr algn="l">
              <a:lnSpc>
                <a:spcPct val="105000"/>
              </a:lnSpc>
              <a:buNone/>
              <a:defRPr sz="2400">
                <a:solidFill>
                  <a:srgbClr val="000000"/>
                </a:solidFill>
                <a:latin typeface="Helvetica Neue"/>
                <a:ea typeface="Helvetica Neue"/>
                <a:cs typeface="Helvetica Neue"/>
              </a:defRPr>
            </a:pPr>
            <a:r>
              <a:rPr sz="1425" b="0">
                <a:solidFill>
                  <a:srgbClr val="121510"/>
                </a:solidFill>
                <a:latin typeface="Aptos"/>
                <a:ea typeface="Aptos"/>
                <a:cs typeface="Aptos"/>
              </a:rPr>
              <a:t>Correct result, but an unrelated production file changed.</a:t>
            </a:r>
          </a:p>
        </p:txBody>
      </p:sp>
      <p:sp>
        <p:nvSpPr>
          <p:cNvPr id="6" name="Content-Placeholder-10-7">
            <a:extLst xmlns:a="http://schemas.openxmlformats.org/drawingml/2006/main">
              <a:ext uri="{FF2B5EF4-FFF2-40B4-BE49-F238E27FC236}">
                <a16:creationId xmlns:a16="http://schemas.microsoft.com/office/drawing/2014/main" id="{4E02E602-2D6F-49D7-B6ED-EFC430281A69}"/>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950" b="1">
                <a:solidFill>
                  <a:srgbClr val="121510"/>
                </a:solidFill>
                <a:latin typeface="Aptos"/>
                <a:ea typeface="Aptos"/>
                <a:cs typeface="Aptos"/>
              </a:rPr>
              <a:t>VERIFIED</a:t>
            </a:r>
          </a:p>
          <a:p xmlns:a="http://schemas.openxmlformats.org/drawingml/2006/main">
            <a:pPr algn="l">
              <a:lnSpc>
                <a:spcPct val="105000"/>
              </a:lnSpc>
              <a:buNone/>
              <a:defRPr sz="2400">
                <a:solidFill>
                  <a:srgbClr val="000000"/>
                </a:solidFill>
                <a:latin typeface="Helvetica Neue"/>
                <a:ea typeface="Helvetica Neue"/>
                <a:cs typeface="Helvetica Neue"/>
              </a:defRPr>
            </a:pPr>
            <a:r>
              <a:rPr sz="1425" b="0">
                <a:solidFill>
                  <a:srgbClr val="121510"/>
                </a:solidFill>
                <a:latin typeface="Aptos"/>
                <a:ea typeface="Aptos"/>
                <a:cs typeface="Aptos"/>
              </a:rPr>
              <a:t>9/9 edge cases, 5/5 mutants, clean observed scope.</a:t>
            </a:r>
          </a:p>
        </p:txBody>
      </p:sp>
      <p:sp>
        <p:nvSpPr>
          <p:cNvPr id="7" name="Google-Shape-340-p61-8">
            <a:extLst xmlns:a="http://schemas.openxmlformats.org/drawingml/2006/main">
              <a:ext uri="{FF2B5EF4-FFF2-40B4-BE49-F238E27FC236}">
                <a16:creationId xmlns:a16="http://schemas.microsoft.com/office/drawing/2014/main" id="{8219EEF6-8642-44B8-AF69-68BEFCE32227}"/>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3723D5E6-7A3D-443A-8165-48065D7C8651}"/>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88C4A530-F8E1-451D-A906-230BA8EBC3B0}"/>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AE620DC1-1AED-43D8-8BA9-D486CC50C1B1}"/>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950" b="1">
                <a:solidFill>
                  <a:srgbClr val="E65C4F"/>
                </a:solidFill>
                <a:latin typeface="Aptos"/>
                <a:ea typeface="Aptos"/>
                <a:cs typeface="Aptos"/>
              </a:rPr>
              <a:t>REJECTED</a:t>
            </a:r>
          </a:p>
          <a:p xmlns:a="http://schemas.openxmlformats.org/drawingml/2006/main">
            <a:pPr algn="l">
              <a:lnSpc>
                <a:spcPct val="105000"/>
              </a:lnSpc>
              <a:buNone/>
              <a:defRPr sz="2400">
                <a:solidFill>
                  <a:srgbClr val="000000"/>
                </a:solidFill>
                <a:latin typeface="Helvetica Neue"/>
                <a:ea typeface="Helvetica Neue"/>
                <a:cs typeface="Helvetica Neue"/>
              </a:defRPr>
            </a:pPr>
            <a:r>
              <a:rPr sz="1425" b="0">
                <a:solidFill>
                  <a:srgbClr val="121510"/>
                </a:solidFill>
                <a:latin typeface="Aptos"/>
                <a:ea typeface="Aptos"/>
                <a:cs typeface="Aptos"/>
              </a:rPr>
              <a:t>distinct() passes the obvious case; 3 edge cases expose it.</a:t>
            </a:r>
          </a:p>
        </p:txBody>
      </p:sp>
      <p:sp>
        <p:nvSpPr>
          <p:cNvPr id="11" name="Google-Shape-340-p61-12">
            <a:extLst xmlns:a="http://schemas.openxmlformats.org/drawingml/2006/main">
              <a:ext uri="{FF2B5EF4-FFF2-40B4-BE49-F238E27FC236}">
                <a16:creationId xmlns:a16="http://schemas.microsoft.com/office/drawing/2014/main" id="{5F25BFFE-A009-4843-A075-54C192DB6A85}"/>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8F07CC51-CE75-4B22-ADFD-AA6D1FCD87DF}"/>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350" b="1">
                <a:solidFill>
                  <a:srgbClr val="5B6256"/>
                </a:solidFill>
                <a:latin typeface="Aptos"/>
                <a:ea typeface="Aptos"/>
                <a:cs typeface="Aptos"/>
              </a:rPr>
              <a:t>BUNDLED CHECKOUT BUG</a:t>
            </a:r>
          </a:p>
          <a:p xmlns:a="http://schemas.openxmlformats.org/drawingml/2006/main">
            <a:pPr algn="l">
              <a:lnSpc>
                <a:spcPct val="105000"/>
              </a:lnSpc>
              <a:buNone/>
              <a:defRPr sz="1600">
                <a:solidFill>
                  <a:srgbClr val="000000"/>
                </a:solidFill>
                <a:latin typeface="Helvetica Neue"/>
                <a:ea typeface="Helvetica Neue"/>
                <a:cs typeface="Helvetica Neue"/>
              </a:defRPr>
            </a:pPr>
            <a:r>
              <a:rPr sz="1800" b="0">
                <a:solidFill>
                  <a:srgbClr val="121510"/>
                </a:solidFill>
                <a:latin typeface="Aptos"/>
                <a:ea typeface="Aptos"/>
                <a:cs typeface="Aptos"/>
              </a:rPr>
              <a:t>Retried checkout requests must apply each case-insensitive coupon code once.</a:t>
            </a:r>
          </a:p>
          <a:p xmlns:a="http://schemas.openxmlformats.org/drawingml/2006/main">
            <a:pPr algn="l">
              <a:lnSpc>
                <a:spcPct val="105000"/>
              </a:lnSpc>
              <a:buNone/>
              <a:defRPr sz="1600">
                <a:solidFill>
                  <a:srgbClr val="000000"/>
                </a:solidFill>
                <a:latin typeface="Helvetica Neue"/>
                <a:ea typeface="Helvetica Neue"/>
                <a:cs typeface="Helvetica Neue"/>
              </a:defRPr>
            </a:pPr>
            <a:r>
              <a:rPr sz="1500" b="0">
                <a:solidFill>
                  <a:srgbClr val="5B6256"/>
                </a:solidFill>
                <a:latin typeface="Aptos"/>
                <a:ea typeface="Aptos"/>
                <a:cs typeface="Aptos"/>
              </a:rPr>
              <a:t>The verifier pack is sealed before candidates run.</a:t>
            </a:r>
          </a:p>
        </p:txBody>
      </p:sp>
      <p:sp>
        <p:nvSpPr>
          <p:cNvPr id="13" name="card-stripe-40.77">
            <a:extLst xmlns:a="http://schemas.openxmlformats.org/drawingml/2006/main">
              <a:ext uri="{FF2B5EF4-FFF2-40B4-BE49-F238E27FC236}">
                <a16:creationId xmlns:a16="http://schemas.microsoft.com/office/drawing/2014/main" id="{0C72B74D-745A-4CE2-9FB7-B38E9133697A}"/>
              </a:ext>
            </a:extLst>
          </p:cNvPr>
          <p:cNvSpPr>
            <a:spLocks xmlns:a="http://schemas.openxmlformats.org/drawingml/2006/main" noGrp="1"/>
          </p:cNvSpPr>
          <p:nvPr/>
        </p:nvSpPr>
        <p:spPr>
          <a:xfrm xmlns:a="http://schemas.openxmlformats.org/drawingml/2006/main">
            <a:off x="388334" y="3365468"/>
            <a:ext cx="3568732" cy="95250"/>
          </a:xfrm>
          <a:prstGeom xmlns:a="http://schemas.openxmlformats.org/drawingml/2006/main" prst="rect">
            <a:avLst/>
          </a:prstGeom>
          <a:solidFill xmlns:a="http://schemas.openxmlformats.org/drawingml/2006/main">
            <a:srgbClr val="E65C4F"/>
          </a:solidFill>
          <a:ln xmlns:a="http://schemas.openxmlformats.org/drawingml/2006/main" w="0">
            <a:solidFill>
              <a:srgbClr val="E65C4F"/>
            </a:solidFill>
            <a:prstDash val="solid"/>
          </a:ln>
        </p:spPr>
      </p:sp>
      <p:sp>
        <p:nvSpPr>
          <p:cNvPr id="14" name="card-stripe-452.38">
            <a:extLst xmlns:a="http://schemas.openxmlformats.org/drawingml/2006/main">
              <a:ext uri="{FF2B5EF4-FFF2-40B4-BE49-F238E27FC236}">
                <a16:creationId xmlns:a16="http://schemas.microsoft.com/office/drawing/2014/main" id="{E76A436D-DEAA-4CFE-966E-4E131F4061A1}"/>
              </a:ext>
            </a:extLst>
          </p:cNvPr>
          <p:cNvSpPr>
            <a:spLocks xmlns:a="http://schemas.openxmlformats.org/drawingml/2006/main" noGrp="1"/>
          </p:cNvSpPr>
          <p:nvPr/>
        </p:nvSpPr>
        <p:spPr>
          <a:xfrm xmlns:a="http://schemas.openxmlformats.org/drawingml/2006/main">
            <a:off x="4308920" y="3365468"/>
            <a:ext cx="3568732" cy="95250"/>
          </a:xfrm>
          <a:prstGeom xmlns:a="http://schemas.openxmlformats.org/drawingml/2006/main" prst="rect">
            <a:avLst/>
          </a:prstGeom>
          <a:solidFill xmlns:a="http://schemas.openxmlformats.org/drawingml/2006/main">
            <a:srgbClr val="EAB84B"/>
          </a:solidFill>
          <a:ln xmlns:a="http://schemas.openxmlformats.org/drawingml/2006/main" w="0">
            <a:solidFill>
              <a:srgbClr val="EAB84B"/>
            </a:solidFill>
            <a:prstDash val="solid"/>
          </a:ln>
        </p:spPr>
      </p:sp>
      <p:sp>
        <p:nvSpPr>
          <p:cNvPr id="15" name="card-stripe-864">
            <a:extLst xmlns:a="http://schemas.openxmlformats.org/drawingml/2006/main">
              <a:ext uri="{FF2B5EF4-FFF2-40B4-BE49-F238E27FC236}">
                <a16:creationId xmlns:a16="http://schemas.microsoft.com/office/drawing/2014/main" id="{0D95F759-392F-4B1D-A7D5-34FC506C4A23}"/>
              </a:ext>
            </a:extLst>
          </p:cNvPr>
          <p:cNvSpPr>
            <a:spLocks xmlns:a="http://schemas.openxmlformats.org/drawingml/2006/main" noGrp="1"/>
          </p:cNvSpPr>
          <p:nvPr/>
        </p:nvSpPr>
        <p:spPr>
          <a:xfrm xmlns:a="http://schemas.openxmlformats.org/drawingml/2006/main">
            <a:off x="8229600" y="3365468"/>
            <a:ext cx="3568732" cy="95250"/>
          </a:xfrm>
          <a:prstGeom xmlns:a="http://schemas.openxmlformats.org/drawingml/2006/main" prst="rect">
            <a:avLst/>
          </a:prstGeom>
          <a:solidFill xmlns:a="http://schemas.openxmlformats.org/drawingml/2006/main">
            <a:srgbClr val="C7FF38"/>
          </a:solidFill>
          <a:ln xmlns:a="http://schemas.openxmlformats.org/drawingml/2006/main" w="0">
            <a:solidFill>
              <a:srgbClr val="C7FF38"/>
            </a:solidFill>
            <a:prstDash val="solid"/>
          </a:ln>
        </p:spPr>
      </p:sp>
    </p:spTree>
    <p:extLst>
      <p:ext uri="{BB962C8B-B14F-4D97-AF65-F5344CB8AC3E}">
        <p14:creationId xmlns:p14="http://schemas.microsoft.com/office/powerpoint/2010/main" val="2111224849"/>
      </p:ext>
    </p:extLst>
  </p:cSld>
</p:sld>
</file>

<file path=ppt/slides/slide4.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3101B474-27F5-4646-8CD1-D2226641F7C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04</a:t>
            </a:r>
          </a:p>
        </p:txBody>
      </p:sp>
      <p:sp>
        <p:nvSpPr>
          <p:cNvPr id="2" name="Title-10-3">
            <a:extLst xmlns:a="http://schemas.openxmlformats.org/drawingml/2006/main">
              <a:ext uri="{FF2B5EF4-FFF2-40B4-BE49-F238E27FC236}">
                <a16:creationId xmlns:a16="http://schemas.microsoft.com/office/drawing/2014/main" id="{FA980210-55A4-45B7-BF1F-77328CFBF6D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900">
                <a:solidFill>
                  <a:srgbClr val="000000"/>
                </a:solidFill>
                <a:latin typeface="Helvetica Neue"/>
                <a:ea typeface="Helvetica Neue"/>
                <a:cs typeface="Helvetica Neue"/>
              </a:defRPr>
            </a:pPr>
            <a:r>
              <a:rPr sz="2925" b="1">
                <a:solidFill>
                  <a:srgbClr val="121510"/>
                </a:solidFill>
                <a:latin typeface="Aptos"/>
                <a:ea typeface="Aptos"/>
                <a:cs typeface="Aptos"/>
              </a:rPr>
              <a:t>One ordered proof pipeline, not a trust score</a:t>
            </a:r>
          </a:p>
        </p:txBody>
      </p:sp>
      <p:cxnSp>
        <p:nvCxnSpPr>
          <p:cNvPr id="48" name="Google-Shape-2259-p159-4"/>
          <p:cNvCxnSpPr/>
          <p:nvPr/>
        </p:nvCxnSpPr>
        <p:spPr>
          <a:xfrm xmlns:a="http://schemas.openxmlformats.org/drawingml/2006/main">
            <a:off x="337757" y="3373755"/>
            <a:ext cx="1145857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D65496E2-CA6A-4DB8-A930-CB70760F2E08}"/>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D4A8B76E-8FE5-48AD-9E95-A4A4B44C5A80}"/>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8E97C8C3-22C4-4C79-A49D-38501D895C8D}"/>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FF5E1490-0556-42ED-B683-36CA1629585B}"/>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350" b="1">
                <a:solidFill>
                  <a:srgbClr val="5B6256"/>
                </a:solidFill>
                <a:latin typeface="Aptos"/>
                <a:ea typeface="Aptos"/>
                <a:cs typeface="Aptos"/>
              </a:rPr>
              <a:t>BEFORE</a:t>
            </a:r>
          </a:p>
        </p:txBody>
      </p:sp>
      <p:sp>
        <p:nvSpPr>
          <p:cNvPr id="8" name="Content-Placeholder-15-9">
            <a:extLst xmlns:a="http://schemas.openxmlformats.org/drawingml/2006/main">
              <a:ext uri="{FF2B5EF4-FFF2-40B4-BE49-F238E27FC236}">
                <a16:creationId xmlns:a16="http://schemas.microsoft.com/office/drawing/2014/main" id="{55DFB8EA-CC1F-43F2-8B7B-E977167F55E5}"/>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350" b="1">
                <a:solidFill>
                  <a:srgbClr val="5B6256"/>
                </a:solidFill>
                <a:latin typeface="Aptos"/>
                <a:ea typeface="Aptos"/>
                <a:cs typeface="Aptos"/>
              </a:rPr>
              <a:t>AFTER</a:t>
            </a:r>
          </a:p>
        </p:txBody>
      </p:sp>
      <p:sp>
        <p:nvSpPr>
          <p:cNvPr id="9" name="Content-Placeholder-15-10">
            <a:extLst xmlns:a="http://schemas.openxmlformats.org/drawingml/2006/main">
              <a:ext uri="{FF2B5EF4-FFF2-40B4-BE49-F238E27FC236}">
                <a16:creationId xmlns:a16="http://schemas.microsoft.com/office/drawing/2014/main" id="{AD754F18-4152-4ADC-A601-85A3BF673AB2}"/>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350" b="1">
                <a:solidFill>
                  <a:srgbClr val="5B6256"/>
                </a:solidFill>
                <a:latin typeface="Aptos"/>
                <a:ea typeface="Aptos"/>
                <a:cs typeface="Aptos"/>
              </a:rPr>
              <a:t>DECIDE</a:t>
            </a:r>
          </a:p>
        </p:txBody>
      </p:sp>
      <p:sp>
        <p:nvSpPr>
          <p:cNvPr id="10" name="Text-Placeholder-16-11">
            <a:extLst xmlns:a="http://schemas.openxmlformats.org/drawingml/2006/main">
              <a:ext uri="{FF2B5EF4-FFF2-40B4-BE49-F238E27FC236}">
                <a16:creationId xmlns:a16="http://schemas.microsoft.com/office/drawing/2014/main" id="{8E696584-3C24-4504-B124-93C8D5ED6F14}"/>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1">
                <a:solidFill>
                  <a:srgbClr val="121510"/>
                </a:solidFill>
                <a:latin typeface="Aptos"/>
                <a:ea typeface="Aptos"/>
                <a:cs typeface="Aptos"/>
              </a:rPr>
              <a:t>Challenge</a:t>
            </a:r>
          </a:p>
          <a:p xmlns:a="http://schemas.openxmlformats.org/drawingml/2006/main">
            <a:pPr algn="l">
              <a:lnSpc>
                <a:spcPct val="105000"/>
              </a:lnSpc>
              <a:buNone/>
              <a:defRPr sz="2400">
                <a:solidFill>
                  <a:srgbClr val="000000"/>
                </a:solidFill>
                <a:latin typeface="Helvetica Neue"/>
                <a:ea typeface="Helvetica Neue"/>
                <a:cs typeface="Helvetica Neue"/>
              </a:defRPr>
            </a:pPr>
            <a:r>
              <a:rPr sz="1500" b="0">
                <a:solidFill>
                  <a:srgbClr val="5B6256"/>
                </a:solidFill>
                <a:latin typeface="Aptos"/>
                <a:ea typeface="Aptos"/>
                <a:cs typeface="Aptos"/>
              </a:rPr>
              <a:t>Regression + 9 edges
Changed-line mutation</a:t>
            </a:r>
          </a:p>
        </p:txBody>
      </p:sp>
      <p:sp>
        <p:nvSpPr>
          <p:cNvPr id="11" name="Text-Placeholder-16-12">
            <a:extLst xmlns:a="http://schemas.openxmlformats.org/drawingml/2006/main">
              <a:ext uri="{FF2B5EF4-FFF2-40B4-BE49-F238E27FC236}">
                <a16:creationId xmlns:a16="http://schemas.microsoft.com/office/drawing/2014/main" id="{FA55FF9E-1B9A-496D-9F1F-56DFAB13EB31}"/>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1">
                <a:solidFill>
                  <a:srgbClr val="121510"/>
                </a:solidFill>
                <a:latin typeface="Aptos"/>
                <a:ea typeface="Aptos"/>
                <a:cs typeface="Aptos"/>
              </a:rPr>
              <a:t>Reproduce</a:t>
            </a:r>
          </a:p>
          <a:p xmlns:a="http://schemas.openxmlformats.org/drawingml/2006/main">
            <a:pPr algn="l">
              <a:lnSpc>
                <a:spcPct val="105000"/>
              </a:lnSpc>
              <a:buNone/>
              <a:defRPr sz="2400">
                <a:solidFill>
                  <a:srgbClr val="000000"/>
                </a:solidFill>
                <a:latin typeface="Helvetica Neue"/>
                <a:ea typeface="Helvetica Neue"/>
                <a:cs typeface="Helvetica Neue"/>
              </a:defRPr>
            </a:pPr>
            <a:r>
              <a:rPr sz="1500" b="0">
                <a:solidFill>
                  <a:srgbClr val="5B6256"/>
                </a:solidFill>
                <a:latin typeface="Aptos"/>
                <a:ea typeface="Aptos"/>
                <a:cs typeface="Aptos"/>
              </a:rPr>
              <a:t>Healthy baseline
Expected assertion fails</a:t>
            </a:r>
          </a:p>
        </p:txBody>
      </p:sp>
      <p:sp>
        <p:nvSpPr>
          <p:cNvPr id="12" name="Text-Placeholder-16-13">
            <a:extLst xmlns:a="http://schemas.openxmlformats.org/drawingml/2006/main">
              <a:ext uri="{FF2B5EF4-FFF2-40B4-BE49-F238E27FC236}">
                <a16:creationId xmlns:a16="http://schemas.microsoft.com/office/drawing/2014/main" id="{B459E417-B543-4B52-BEC6-30F37F95EAE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1">
                <a:solidFill>
                  <a:srgbClr val="121510"/>
                </a:solidFill>
                <a:latin typeface="Aptos"/>
                <a:ea typeface="Aptos"/>
                <a:cs typeface="Aptos"/>
              </a:rPr>
              <a:t>Receipt</a:t>
            </a:r>
          </a:p>
          <a:p xmlns:a="http://schemas.openxmlformats.org/drawingml/2006/main">
            <a:pPr algn="l">
              <a:lnSpc>
                <a:spcPct val="105000"/>
              </a:lnSpc>
              <a:buNone/>
              <a:defRPr sz="2400">
                <a:solidFill>
                  <a:srgbClr val="000000"/>
                </a:solidFill>
                <a:latin typeface="Helvetica Neue"/>
                <a:ea typeface="Helvetica Neue"/>
                <a:cs typeface="Helvetica Neue"/>
              </a:defRPr>
            </a:pPr>
            <a:r>
              <a:rPr sz="1500" b="0">
                <a:solidFill>
                  <a:srgbClr val="5B6256"/>
                </a:solidFill>
                <a:latin typeface="Aptos"/>
                <a:ea typeface="Aptos"/>
                <a:cs typeface="Aptos"/>
              </a:rPr>
              <a:t>Observed scope + hashes</a:t>
            </a:r>
            <a:r>
              <a:rPr sz="1500" b="0">
                <a:solidFill>
                  <a:srgbClr val="5B6256"/>
                </a:solidFill>
                <a:latin typeface="Aptos"/>
                <a:ea typeface="Aptos"/>
                <a:cs typeface="Aptos"/>
              </a:rPr>
              <a:t>
HTML · Markdown · JSON</a:t>
            </a:r>
          </a:p>
        </p:txBody>
      </p:sp>
      <p:sp>
        <p:nvSpPr>
          <p:cNvPr id="13" name="pipeline-accent-35.46">
            <a:extLst xmlns:a="http://schemas.openxmlformats.org/drawingml/2006/main">
              <a:ext uri="{FF2B5EF4-FFF2-40B4-BE49-F238E27FC236}">
                <a16:creationId xmlns:a16="http://schemas.microsoft.com/office/drawing/2014/main" id="{A39B27D3-CCCE-44D7-82F0-5DAE411A45C1}"/>
              </a:ext>
            </a:extLst>
          </p:cNvPr>
          <p:cNvSpPr>
            <a:spLocks xmlns:a="http://schemas.openxmlformats.org/drawingml/2006/main" noGrp="1"/>
          </p:cNvSpPr>
          <p:nvPr/>
        </p:nvSpPr>
        <p:spPr>
          <a:xfrm xmlns:a="http://schemas.openxmlformats.org/drawingml/2006/main">
            <a:off x="299657" y="3281363"/>
            <a:ext cx="180975" cy="180975"/>
          </a:xfrm>
          <a:prstGeom xmlns:a="http://schemas.openxmlformats.org/drawingml/2006/main" prst="ellipse">
            <a:avLst/>
          </a:prstGeom>
          <a:solidFill xmlns:a="http://schemas.openxmlformats.org/drawingml/2006/main">
            <a:srgbClr val="C7FF38"/>
          </a:solidFill>
          <a:ln xmlns:a="http://schemas.openxmlformats.org/drawingml/2006/main" w="9525">
            <a:solidFill>
              <a:srgbClr val="121510"/>
            </a:solidFill>
            <a:prstDash val="solid"/>
          </a:ln>
        </p:spPr>
      </p:sp>
      <p:sp>
        <p:nvSpPr>
          <p:cNvPr id="14" name="pipeline-accent-446.38">
            <a:extLst xmlns:a="http://schemas.openxmlformats.org/drawingml/2006/main">
              <a:ext uri="{FF2B5EF4-FFF2-40B4-BE49-F238E27FC236}">
                <a16:creationId xmlns:a16="http://schemas.microsoft.com/office/drawing/2014/main" id="{73600B1E-0E75-430F-909D-92B81F52CDCD}"/>
              </a:ext>
            </a:extLst>
          </p:cNvPr>
          <p:cNvSpPr>
            <a:spLocks xmlns:a="http://schemas.openxmlformats.org/drawingml/2006/main" noGrp="1"/>
          </p:cNvSpPr>
          <p:nvPr/>
        </p:nvSpPr>
        <p:spPr>
          <a:xfrm xmlns:a="http://schemas.openxmlformats.org/drawingml/2006/main">
            <a:off x="4213670" y="3281363"/>
            <a:ext cx="180975" cy="180975"/>
          </a:xfrm>
          <a:prstGeom xmlns:a="http://schemas.openxmlformats.org/drawingml/2006/main" prst="ellipse">
            <a:avLst/>
          </a:prstGeom>
          <a:solidFill xmlns:a="http://schemas.openxmlformats.org/drawingml/2006/main">
            <a:srgbClr val="C7FF38"/>
          </a:solidFill>
          <a:ln xmlns:a="http://schemas.openxmlformats.org/drawingml/2006/main" w="9525">
            <a:solidFill>
              <a:srgbClr val="121510"/>
            </a:solidFill>
            <a:prstDash val="solid"/>
          </a:ln>
        </p:spPr>
      </p:sp>
      <p:sp>
        <p:nvSpPr>
          <p:cNvPr id="15" name="pipeline-accent-858.38">
            <a:extLst xmlns:a="http://schemas.openxmlformats.org/drawingml/2006/main">
              <a:ext uri="{FF2B5EF4-FFF2-40B4-BE49-F238E27FC236}">
                <a16:creationId xmlns:a16="http://schemas.microsoft.com/office/drawing/2014/main" id="{4C1C2836-91EB-4BD7-B156-FB9EAD2F5D29}"/>
              </a:ext>
            </a:extLst>
          </p:cNvPr>
          <p:cNvSpPr>
            <a:spLocks xmlns:a="http://schemas.openxmlformats.org/drawingml/2006/main" noGrp="1"/>
          </p:cNvSpPr>
          <p:nvPr/>
        </p:nvSpPr>
        <p:spPr>
          <a:xfrm xmlns:a="http://schemas.openxmlformats.org/drawingml/2006/main">
            <a:off x="8137970" y="3281363"/>
            <a:ext cx="180975" cy="180975"/>
          </a:xfrm>
          <a:prstGeom xmlns:a="http://schemas.openxmlformats.org/drawingml/2006/main" prst="ellipse">
            <a:avLst/>
          </a:prstGeom>
          <a:solidFill xmlns:a="http://schemas.openxmlformats.org/drawingml/2006/main">
            <a:srgbClr val="C7FF38"/>
          </a:solidFill>
          <a:ln xmlns:a="http://schemas.openxmlformats.org/drawingml/2006/main" w="9525">
            <a:solidFill>
              <a:srgbClr val="121510"/>
            </a:solidFill>
            <a:prstDash val="solid"/>
          </a:ln>
        </p:spPr>
      </p:sp>
    </p:spTree>
    <p:extLst>
      <p:ext uri="{BB962C8B-B14F-4D97-AF65-F5344CB8AC3E}">
        <p14:creationId xmlns:p14="http://schemas.microsoft.com/office/powerpoint/2010/main" val="361709449"/>
      </p:ext>
    </p:extLst>
  </p:cSld>
</p:sld>
</file>

<file path=ppt/slides/slide5.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8" name="Slide-Number-Placeholder-1-2">
            <a:extLst xmlns:a="http://schemas.openxmlformats.org/drawingml/2006/main">
              <a:ext uri="{FF2B5EF4-FFF2-40B4-BE49-F238E27FC236}">
                <a16:creationId xmlns:a16="http://schemas.microsoft.com/office/drawing/2014/main" id="{03189C6B-19CC-4898-848D-4118B6CAEB75}"/>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05</a:t>
            </a:r>
          </a:p>
        </p:txBody>
      </p:sp>
      <p:sp>
        <p:nvSpPr>
          <p:cNvPr id="2" name="Title-2-3">
            <a:extLst xmlns:a="http://schemas.openxmlformats.org/drawingml/2006/main">
              <a:ext uri="{FF2B5EF4-FFF2-40B4-BE49-F238E27FC236}">
                <a16:creationId xmlns:a16="http://schemas.microsoft.com/office/drawing/2014/main" id="{E160D629-B999-42D6-833C-4ACB6479E97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900">
                <a:solidFill>
                  <a:srgbClr val="000000"/>
                </a:solidFill>
                <a:latin typeface="Helvetica Neue"/>
                <a:ea typeface="Helvetica Neue"/>
                <a:cs typeface="Helvetica Neue"/>
              </a:defRPr>
            </a:pPr>
            <a:r>
              <a:rPr sz="2925" b="1">
                <a:solidFill>
                  <a:srgbClr val="121510"/>
                </a:solidFill>
                <a:latin typeface="Aptos"/>
                <a:ea typeface="Aptos"/>
                <a:cs typeface="Aptos"/>
              </a:rPr>
              <a:t>Useful offline. Honest about its safety boundary.</a:t>
            </a:r>
          </a:p>
        </p:txBody>
      </p:sp>
      <p:sp>
        <p:nvSpPr>
          <p:cNvPr id="3" name="Content-Placeholder-9-4">
            <a:extLst xmlns:a="http://schemas.openxmlformats.org/drawingml/2006/main">
              <a:ext uri="{FF2B5EF4-FFF2-40B4-BE49-F238E27FC236}">
                <a16:creationId xmlns:a16="http://schemas.microsoft.com/office/drawing/2014/main" id="{941CEBBD-2224-4B10-925F-8127F76DE3C5}"/>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1">
                <a:solidFill>
                  <a:srgbClr val="121510"/>
                </a:solidFill>
                <a:latin typeface="Aptos"/>
                <a:ea typeface="Aptos"/>
                <a:cs typeface="Aptos"/>
              </a:rPr>
              <a:t>No runtime AI</a:t>
            </a:r>
          </a:p>
          <a:p xmlns:a="http://schemas.openxmlformats.org/drawingml/2006/main">
            <a:pPr algn="l">
              <a:lnSpc>
                <a:spcPct val="105000"/>
              </a:lnSpc>
              <a:buNone/>
              <a:defRPr sz="2400">
                <a:solidFill>
                  <a:srgbClr val="000000"/>
                </a:solidFill>
                <a:latin typeface="Helvetica Neue"/>
                <a:ea typeface="Helvetica Neue"/>
                <a:cs typeface="Helvetica Neue"/>
              </a:defRPr>
            </a:pPr>
            <a:r>
              <a:rPr sz="1425" b="0">
                <a:solidFill>
                  <a:srgbClr val="5B6256"/>
                </a:solidFill>
                <a:latin typeface="Aptos"/>
                <a:ea typeface="Aptos"/>
                <a:cs typeface="Aptos"/>
              </a:rPr>
              <a:t>JGit, Maven, JUnit, PIT and fixed verdict rules. No key. No credits.</a:t>
            </a:r>
          </a:p>
        </p:txBody>
      </p:sp>
      <p:sp>
        <p:nvSpPr>
          <p:cNvPr id="4" name="Content-Placeholder-10-5">
            <a:extLst xmlns:a="http://schemas.openxmlformats.org/drawingml/2006/main">
              <a:ext uri="{FF2B5EF4-FFF2-40B4-BE49-F238E27FC236}">
                <a16:creationId xmlns:a16="http://schemas.microsoft.com/office/drawing/2014/main" id="{F8A9BA7B-D737-4AB3-981D-CB7CF1915359}"/>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1">
                <a:solidFill>
                  <a:srgbClr val="121510"/>
                </a:solidFill>
                <a:latin typeface="Aptos"/>
                <a:ea typeface="Aptos"/>
                <a:cs typeface="Aptos"/>
              </a:rPr>
              <a:t>Allowlisted hosting</a:t>
            </a:r>
          </a:p>
          <a:p xmlns:a="http://schemas.openxmlformats.org/drawingml/2006/main">
            <a:pPr algn="l">
              <a:lnSpc>
                <a:spcPct val="105000"/>
              </a:lnSpc>
              <a:buNone/>
              <a:defRPr sz="2400">
                <a:solidFill>
                  <a:srgbClr val="000000"/>
                </a:solidFill>
                <a:latin typeface="Helvetica Neue"/>
                <a:ea typeface="Helvetica Neue"/>
                <a:cs typeface="Helvetica Neue"/>
              </a:defRPr>
            </a:pPr>
            <a:r>
              <a:rPr sz="1425" b="0">
                <a:solidFill>
                  <a:srgbClr val="5B6256"/>
                </a:solidFill>
                <a:latin typeface="Aptos"/>
                <a:ea typeface="Aptos"/>
                <a:cs typeface="Aptos"/>
              </a:rPr>
              <a:t>Public API accepts only bundled caseId + patchId pairs.</a:t>
            </a:r>
          </a:p>
        </p:txBody>
      </p:sp>
      <p:sp>
        <p:nvSpPr>
          <p:cNvPr id="5" name="Content-Placeholder-9-6">
            <a:extLst xmlns:a="http://schemas.openxmlformats.org/drawingml/2006/main">
              <a:ext uri="{FF2B5EF4-FFF2-40B4-BE49-F238E27FC236}">
                <a16:creationId xmlns:a16="http://schemas.microsoft.com/office/drawing/2014/main" id="{4197D2F9-C2B8-498D-AB78-77DA127C019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1">
                <a:solidFill>
                  <a:srgbClr val="121510"/>
                </a:solidFill>
                <a:latin typeface="Aptos"/>
                <a:ea typeface="Aptos"/>
                <a:cs typeface="Aptos"/>
              </a:rPr>
              <a:t>Bounded execution</a:t>
            </a:r>
          </a:p>
          <a:p xmlns:a="http://schemas.openxmlformats.org/drawingml/2006/main">
            <a:pPr algn="l">
              <a:lnSpc>
                <a:spcPct val="105000"/>
              </a:lnSpc>
              <a:buNone/>
              <a:defRPr sz="2400">
                <a:solidFill>
                  <a:srgbClr val="000000"/>
                </a:solidFill>
                <a:latin typeface="Helvetica Neue"/>
                <a:ea typeface="Helvetica Neue"/>
                <a:cs typeface="Helvetica Neue"/>
              </a:defRPr>
            </a:pPr>
            <a:r>
              <a:rPr sz="1425" b="0">
                <a:solidFill>
                  <a:srgbClr val="5B6256"/>
                </a:solidFill>
                <a:latin typeface="Aptos"/>
                <a:ea typeface="Aptos"/>
                <a:cs typeface="Aptos"/>
              </a:rPr>
              <a:t>Single worker, queue cap, timeouts, memory and log limits.</a:t>
            </a:r>
          </a:p>
        </p:txBody>
      </p:sp>
      <p:sp>
        <p:nvSpPr>
          <p:cNvPr id="6" name="Content-Placeholder-10-7">
            <a:extLst xmlns:a="http://schemas.openxmlformats.org/drawingml/2006/main">
              <a:ext uri="{FF2B5EF4-FFF2-40B4-BE49-F238E27FC236}">
                <a16:creationId xmlns:a16="http://schemas.microsoft.com/office/drawing/2014/main" id="{3A0016EC-9F66-4C8E-948F-B88277B267A9}"/>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2100" b="1">
                <a:solidFill>
                  <a:srgbClr val="121510"/>
                </a:solidFill>
                <a:latin typeface="Aptos"/>
                <a:ea typeface="Aptos"/>
                <a:cs typeface="Aptos"/>
              </a:rPr>
              <a:t>Trusted local CLI</a:t>
            </a:r>
          </a:p>
          <a:p xmlns:a="http://schemas.openxmlformats.org/drawingml/2006/main">
            <a:pPr algn="l">
              <a:lnSpc>
                <a:spcPct val="105000"/>
              </a:lnSpc>
              <a:buNone/>
              <a:defRPr sz="2400">
                <a:solidFill>
                  <a:srgbClr val="000000"/>
                </a:solidFill>
                <a:latin typeface="Helvetica Neue"/>
                <a:ea typeface="Helvetica Neue"/>
                <a:cs typeface="Helvetica Neue"/>
              </a:defRPr>
            </a:pPr>
            <a:r>
              <a:rPr sz="1425" b="0">
                <a:solidFill>
                  <a:srgbClr val="5B6256"/>
                </a:solidFill>
                <a:latin typeface="Aptos"/>
                <a:ea typeface="Aptos"/>
                <a:cs typeface="Aptos"/>
              </a:rPr>
              <a:t>Refuses to execute unless the user passes an explicit safety flag.</a:t>
            </a:r>
          </a:p>
        </p:txBody>
      </p:sp>
      <p:sp>
        <p:nvSpPr>
          <p:cNvPr id="7" name="section-NO API KEY">
            <a:extLst xmlns:a="http://schemas.openxmlformats.org/drawingml/2006/main">
              <a:ext uri="{FF2B5EF4-FFF2-40B4-BE49-F238E27FC236}">
                <a16:creationId xmlns:a16="http://schemas.microsoft.com/office/drawing/2014/main" id="{E94CE6C5-5C0A-48B1-8546-1BF8C2CDF89E}"/>
              </a:ext>
            </a:extLst>
          </p:cNvPr>
          <p:cNvSpPr>
            <a:spLocks xmlns:a="http://schemas.openxmlformats.org/drawingml/2006/main" noGrp="1"/>
          </p:cNvSpPr>
          <p:nvPr/>
        </p:nvSpPr>
        <p:spPr>
          <a:xfrm xmlns:a="http://schemas.openxmlformats.org/drawingml/2006/main">
            <a:off x="10334625" y="400050"/>
            <a:ext cx="1285875" cy="285750"/>
          </a:xfrm>
          <a:prstGeom xmlns:a="http://schemas.openxmlformats.org/drawingml/2006/main" prst="roundRect">
            <a:avLst>
              <a:gd name="adj" fmla="val 40000"/>
            </a:avLst>
          </a:prstGeom>
          <a:solidFill xmlns:a="http://schemas.openxmlformats.org/drawingml/2006/main">
            <a:srgbClr val="C7FF38"/>
          </a:solidFill>
          <a:ln xmlns:a="http://schemas.openxmlformats.org/drawingml/2006/main" w="0">
            <a:solidFill>
              <a:srgbClr val="C7FF38"/>
            </a:solid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121510"/>
                </a:solidFill>
              </a:defRPr>
            </a:pPr>
            <a:r>
              <a:rPr sz="975" b="1">
                <a:solidFill>
                  <a:srgbClr val="121510"/>
                </a:solidFill>
              </a:rPr>
              <a:t>NO API KEY</a:t>
            </a:r>
          </a:p>
        </p:txBody>
      </p:sp>
    </p:spTree>
    <p:extLst>
      <p:ext uri="{BB962C8B-B14F-4D97-AF65-F5344CB8AC3E}">
        <p14:creationId xmlns:p14="http://schemas.microsoft.com/office/powerpoint/2010/main" val="2027722784"/>
      </p:ext>
    </p:extLst>
  </p:cSld>
</p:sld>
</file>

<file path=ppt/slides/slide6.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17" name="Rounded-Rectangle-5-1">
            <a:extLst xmlns:a="http://schemas.openxmlformats.org/drawingml/2006/main">
              <a:ext uri="{FF2B5EF4-FFF2-40B4-BE49-F238E27FC236}">
                <a16:creationId xmlns:a16="http://schemas.microsoft.com/office/drawing/2014/main" id="{718468DD-8DA7-4683-8668-FC241C3BE6FA}"/>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BA664F8B-FAEB-4A65-A570-7B889CC388B1}"/>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7EA9A9BB-4948-4EAA-8338-D689E07FE575}"/>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3146A2B9-AE7C-497F-A172-662B3D676DA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06</a:t>
            </a:r>
          </a:p>
        </p:txBody>
      </p:sp>
      <p:sp>
        <p:nvSpPr>
          <p:cNvPr id="5" name="Title-2-5">
            <a:extLst xmlns:a="http://schemas.openxmlformats.org/drawingml/2006/main">
              <a:ext uri="{FF2B5EF4-FFF2-40B4-BE49-F238E27FC236}">
                <a16:creationId xmlns:a16="http://schemas.microsoft.com/office/drawing/2014/main" id="{CAF4A7D9-7749-484F-941D-95B7000452D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900">
                <a:solidFill>
                  <a:srgbClr val="000000"/>
                </a:solidFill>
                <a:latin typeface="Helvetica Neue"/>
                <a:ea typeface="Helvetica Neue"/>
                <a:cs typeface="Helvetica Neue"/>
              </a:defRPr>
            </a:pPr>
            <a:r>
              <a:rPr sz="2925" b="1">
                <a:solidFill>
                  <a:srgbClr val="121510"/>
                </a:solidFill>
                <a:latin typeface="Aptos"/>
                <a:ea typeface="Aptos"/>
                <a:cs typeface="Aptos"/>
              </a:rPr>
              <a:t>Measured evidence from the six-patch corpus</a:t>
            </a:r>
          </a:p>
        </p:txBody>
      </p:sp>
      <p:sp>
        <p:nvSpPr>
          <p:cNvPr id="6" name="Content-Placeholder-9-6">
            <a:extLst xmlns:a="http://schemas.openxmlformats.org/drawingml/2006/main">
              <a:ext uri="{FF2B5EF4-FFF2-40B4-BE49-F238E27FC236}">
                <a16:creationId xmlns:a16="http://schemas.microsoft.com/office/drawing/2014/main" id="{99EE0388-456F-46CE-A1BF-511A1362D0D7}"/>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500" b="1">
                <a:solidFill>
                  <a:srgbClr val="5B6256"/>
                </a:solidFill>
                <a:latin typeface="Aptos"/>
                <a:ea typeface="Aptos"/>
                <a:cs typeface="Aptos"/>
              </a:rPr>
              <a:t>expected verdicts</a:t>
            </a:r>
          </a:p>
        </p:txBody>
      </p:sp>
      <p:sp>
        <p:nvSpPr>
          <p:cNvPr id="7" name="Content-Placeholder-10-7">
            <a:extLst xmlns:a="http://schemas.openxmlformats.org/drawingml/2006/main">
              <a:ext uri="{FF2B5EF4-FFF2-40B4-BE49-F238E27FC236}">
                <a16:creationId xmlns:a16="http://schemas.microsoft.com/office/drawing/2014/main" id="{7C30EFA5-7CF7-4BF2-B289-F6A2103F559F}"/>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500" b="1">
                <a:solidFill>
                  <a:srgbClr val="5B6256"/>
                </a:solidFill>
                <a:latin typeface="Aptos"/>
                <a:ea typeface="Aptos"/>
                <a:cs typeface="Aptos"/>
              </a:rPr>
              <a:t>final packaged run</a:t>
            </a:r>
          </a:p>
        </p:txBody>
      </p:sp>
      <p:sp>
        <p:nvSpPr>
          <p:cNvPr id="8" name="Content-Placeholder-11-8">
            <a:extLst xmlns:a="http://schemas.openxmlformats.org/drawingml/2006/main">
              <a:ext uri="{FF2B5EF4-FFF2-40B4-BE49-F238E27FC236}">
                <a16:creationId xmlns:a16="http://schemas.microsoft.com/office/drawing/2014/main" id="{1F107739-4322-44D2-B1ED-039E7937F3E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500" b="1">
                <a:solidFill>
                  <a:srgbClr val="5B6256"/>
                </a:solidFill>
                <a:latin typeface="Aptos"/>
                <a:ea typeface="Aptos"/>
                <a:cs typeface="Aptos"/>
              </a:rPr>
              <a:t>unsafe VERIFIED</a:t>
            </a:r>
          </a:p>
        </p:txBody>
      </p:sp>
      <p:sp>
        <p:nvSpPr>
          <p:cNvPr id="9" name="Content-Placeholder-9-9">
            <a:extLst xmlns:a="http://schemas.openxmlformats.org/drawingml/2006/main">
              <a:ext uri="{FF2B5EF4-FFF2-40B4-BE49-F238E27FC236}">
                <a16:creationId xmlns:a16="http://schemas.microsoft.com/office/drawing/2014/main" id="{C44AD243-FBD0-49D5-B575-26CD9D8D6D5B}"/>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3900" b="1">
                <a:solidFill>
                  <a:srgbClr val="121510"/>
                </a:solidFill>
                <a:latin typeface="Aptos"/>
                <a:ea typeface="Aptos"/>
                <a:cs typeface="Aptos"/>
              </a:rPr>
              <a:t>6 / 6</a:t>
            </a:r>
          </a:p>
        </p:txBody>
      </p:sp>
      <p:sp>
        <p:nvSpPr>
          <p:cNvPr id="10" name="Content-Placeholder-9-10">
            <a:extLst xmlns:a="http://schemas.openxmlformats.org/drawingml/2006/main">
              <a:ext uri="{FF2B5EF4-FFF2-40B4-BE49-F238E27FC236}">
                <a16:creationId xmlns:a16="http://schemas.microsoft.com/office/drawing/2014/main" id="{075C9DAF-772C-4C1D-AE44-9785F6E1444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3900" b="1">
                <a:solidFill>
                  <a:srgbClr val="121510"/>
                </a:solidFill>
                <a:latin typeface="Aptos"/>
                <a:ea typeface="Aptos"/>
                <a:cs typeface="Aptos"/>
              </a:rPr>
              <a:t>0</a:t>
            </a:r>
          </a:p>
        </p:txBody>
      </p:sp>
      <p:sp>
        <p:nvSpPr>
          <p:cNvPr id="11" name="Content-Placeholder-9-11">
            <a:extLst xmlns:a="http://schemas.openxmlformats.org/drawingml/2006/main">
              <a:ext uri="{FF2B5EF4-FFF2-40B4-BE49-F238E27FC236}">
                <a16:creationId xmlns:a16="http://schemas.microsoft.com/office/drawing/2014/main" id="{72A80942-6FFE-44BD-8A41-644F7C70414A}"/>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3900" b="1">
                <a:solidFill>
                  <a:srgbClr val="121510"/>
                </a:solidFill>
                <a:latin typeface="Aptos"/>
                <a:ea typeface="Aptos"/>
                <a:cs typeface="Aptos"/>
              </a:rPr>
              <a:t>25.9 s</a:t>
            </a:r>
          </a:p>
        </p:txBody>
      </p:sp>
      <p:sp>
        <p:nvSpPr>
          <p:cNvPr id="12" name="Content-Placeholder-15-12">
            <a:extLst xmlns:a="http://schemas.openxmlformats.org/drawingml/2006/main">
              <a:ext uri="{FF2B5EF4-FFF2-40B4-BE49-F238E27FC236}">
                <a16:creationId xmlns:a16="http://schemas.microsoft.com/office/drawing/2014/main" id="{8C3749D5-0C5F-49AD-8E69-1D6C02483C39}"/>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1600">
                <a:solidFill>
                  <a:srgbClr val="000000"/>
                </a:solidFill>
                <a:latin typeface="Helvetica Neue"/>
                <a:ea typeface="Helvetica Neue"/>
                <a:cs typeface="Helvetica Neue"/>
              </a:defRPr>
            </a:pPr>
            <a:r>
              <a:rPr sz="1350" b="1">
                <a:solidFill>
                  <a:srgbClr val="5B6256"/>
                </a:solidFill>
                <a:latin typeface="Aptos"/>
                <a:ea typeface="Aptos"/>
                <a:cs typeface="Aptos"/>
              </a:rPr>
              <a:t>LOCAL EVALUATION</a:t>
            </a:r>
          </a:p>
          <a:p xmlns:a="http://schemas.openxmlformats.org/drawingml/2006/main">
            <a:pPr algn="l">
              <a:lnSpc>
                <a:spcPct val="105000"/>
              </a:lnSpc>
              <a:buNone/>
              <a:defRPr sz="1600">
                <a:solidFill>
                  <a:srgbClr val="000000"/>
                </a:solidFill>
                <a:latin typeface="Helvetica Neue"/>
                <a:ea typeface="Helvetica Neue"/>
                <a:cs typeface="Helvetica Neue"/>
              </a:defRPr>
            </a:pPr>
            <a:r>
              <a:rPr sz="1725" b="0">
                <a:solidFill>
                  <a:srgbClr val="121510"/>
                </a:solidFill>
                <a:latin typeface="Aptos"/>
                <a:ea typeface="Aptos"/>
                <a:cs typeface="Aptos"/>
              </a:rPr>
              <a:t>Two robust patches, one drifting patch, one edge-case trap, one build bypass, and one compile break.</a:t>
            </a:r>
          </a:p>
        </p:txBody>
      </p:sp>
      <p:sp>
        <p:nvSpPr>
          <p:cNvPr id="13" name="section-MACHINE READABLE">
            <a:extLst xmlns:a="http://schemas.openxmlformats.org/drawingml/2006/main">
              <a:ext uri="{FF2B5EF4-FFF2-40B4-BE49-F238E27FC236}">
                <a16:creationId xmlns:a16="http://schemas.microsoft.com/office/drawing/2014/main" id="{97D7C51B-4244-485A-AEB0-9FA496055174}"/>
              </a:ext>
            </a:extLst>
          </p:cNvPr>
          <p:cNvSpPr>
            <a:spLocks xmlns:a="http://schemas.openxmlformats.org/drawingml/2006/main" noGrp="1"/>
          </p:cNvSpPr>
          <p:nvPr/>
        </p:nvSpPr>
        <p:spPr>
          <a:xfrm xmlns:a="http://schemas.openxmlformats.org/drawingml/2006/main">
            <a:off x="10334625" y="400050"/>
            <a:ext cx="1285875" cy="285750"/>
          </a:xfrm>
          <a:prstGeom xmlns:a="http://schemas.openxmlformats.org/drawingml/2006/main" prst="roundRect">
            <a:avLst>
              <a:gd name="adj" fmla="val 40000"/>
            </a:avLst>
          </a:prstGeom>
          <a:solidFill xmlns:a="http://schemas.openxmlformats.org/drawingml/2006/main">
            <a:srgbClr val="C7FF38"/>
          </a:solidFill>
          <a:ln xmlns:a="http://schemas.openxmlformats.org/drawingml/2006/main" w="0">
            <a:solidFill>
              <a:srgbClr val="C7FF38"/>
            </a:solid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121510"/>
                </a:solidFill>
              </a:defRPr>
            </a:pPr>
            <a:r>
              <a:rPr sz="975" b="1">
                <a:solidFill>
                  <a:srgbClr val="121510"/>
                </a:solidFill>
              </a:rPr>
              <a:t>MACHINE READABLE</a:t>
            </a:r>
          </a:p>
        </p:txBody>
      </p:sp>
      <p:sp>
        <p:nvSpPr>
          <p:cNvPr id="14" name="metric-accent-41.33">
            <a:extLst xmlns:a="http://schemas.openxmlformats.org/drawingml/2006/main">
              <a:ext uri="{FF2B5EF4-FFF2-40B4-BE49-F238E27FC236}">
                <a16:creationId xmlns:a16="http://schemas.microsoft.com/office/drawing/2014/main" id="{4B970068-82DD-4E4E-989A-611B1F266C82}"/>
              </a:ext>
            </a:extLst>
          </p:cNvPr>
          <p:cNvSpPr>
            <a:spLocks xmlns:a="http://schemas.openxmlformats.org/drawingml/2006/main" noGrp="1"/>
          </p:cNvSpPr>
          <p:nvPr/>
        </p:nvSpPr>
        <p:spPr>
          <a:xfrm xmlns:a="http://schemas.openxmlformats.org/drawingml/2006/main">
            <a:off x="393668" y="3022568"/>
            <a:ext cx="3568732" cy="95250"/>
          </a:xfrm>
          <a:prstGeom xmlns:a="http://schemas.openxmlformats.org/drawingml/2006/main" prst="rect">
            <a:avLst/>
          </a:prstGeom>
          <a:solidFill xmlns:a="http://schemas.openxmlformats.org/drawingml/2006/main">
            <a:srgbClr val="C7FF38"/>
          </a:solidFill>
          <a:ln xmlns:a="http://schemas.openxmlformats.org/drawingml/2006/main" w="0">
            <a:solidFill>
              <a:srgbClr val="C7FF38"/>
            </a:solidFill>
            <a:prstDash val="solid"/>
          </a:ln>
        </p:spPr>
      </p:sp>
      <p:sp>
        <p:nvSpPr>
          <p:cNvPr id="15" name="metric-accent-452.67">
            <a:extLst xmlns:a="http://schemas.openxmlformats.org/drawingml/2006/main">
              <a:ext uri="{FF2B5EF4-FFF2-40B4-BE49-F238E27FC236}">
                <a16:creationId xmlns:a16="http://schemas.microsoft.com/office/drawing/2014/main" id="{50761B81-0B18-41EA-A7BC-4EF0D6FFB669}"/>
              </a:ext>
            </a:extLst>
          </p:cNvPr>
          <p:cNvSpPr>
            <a:spLocks xmlns:a="http://schemas.openxmlformats.org/drawingml/2006/main" noGrp="1"/>
          </p:cNvSpPr>
          <p:nvPr/>
        </p:nvSpPr>
        <p:spPr>
          <a:xfrm xmlns:a="http://schemas.openxmlformats.org/drawingml/2006/main">
            <a:off x="4311682" y="3022568"/>
            <a:ext cx="3568732" cy="95250"/>
          </a:xfrm>
          <a:prstGeom xmlns:a="http://schemas.openxmlformats.org/drawingml/2006/main" prst="rect">
            <a:avLst/>
          </a:prstGeom>
          <a:solidFill xmlns:a="http://schemas.openxmlformats.org/drawingml/2006/main">
            <a:srgbClr val="C7FF38"/>
          </a:solidFill>
          <a:ln xmlns:a="http://schemas.openxmlformats.org/drawingml/2006/main" w="0">
            <a:solidFill>
              <a:srgbClr val="C7FF38"/>
            </a:solidFill>
            <a:prstDash val="solid"/>
          </a:ln>
        </p:spPr>
      </p:sp>
      <p:sp>
        <p:nvSpPr>
          <p:cNvPr id="16" name="metric-accent-864.28">
            <a:extLst xmlns:a="http://schemas.openxmlformats.org/drawingml/2006/main">
              <a:ext uri="{FF2B5EF4-FFF2-40B4-BE49-F238E27FC236}">
                <a16:creationId xmlns:a16="http://schemas.microsoft.com/office/drawing/2014/main" id="{2FAF153E-D23C-48ED-8722-AF8243F80572}"/>
              </a:ext>
            </a:extLst>
          </p:cNvPr>
          <p:cNvSpPr>
            <a:spLocks xmlns:a="http://schemas.openxmlformats.org/drawingml/2006/main" noGrp="1"/>
          </p:cNvSpPr>
          <p:nvPr/>
        </p:nvSpPr>
        <p:spPr>
          <a:xfrm xmlns:a="http://schemas.openxmlformats.org/drawingml/2006/main">
            <a:off x="8232267" y="3022568"/>
            <a:ext cx="3568732" cy="95250"/>
          </a:xfrm>
          <a:prstGeom xmlns:a="http://schemas.openxmlformats.org/drawingml/2006/main" prst="rect">
            <a:avLst/>
          </a:prstGeom>
          <a:solidFill xmlns:a="http://schemas.openxmlformats.org/drawingml/2006/main">
            <a:srgbClr val="C7FF38"/>
          </a:solidFill>
          <a:ln xmlns:a="http://schemas.openxmlformats.org/drawingml/2006/main" w="0">
            <a:solidFill>
              <a:srgbClr val="C7FF38"/>
            </a:solidFill>
            <a:prstDash val="solid"/>
          </a:ln>
        </p:spPr>
      </p:sp>
    </p:spTree>
    <p:extLst>
      <p:ext uri="{BB962C8B-B14F-4D97-AF65-F5344CB8AC3E}">
        <p14:creationId xmlns:p14="http://schemas.microsoft.com/office/powerpoint/2010/main" val="494516960"/>
      </p:ext>
    </p:extLst>
  </p:cSld>
</p:sld>
</file>

<file path=ppt/slides/slide7.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478C9E58-7860-458F-AE59-FC4C31D08085}"/>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5000"/>
              </a:lnSpc>
              <a:buNone/>
              <a:defRPr sz="6000">
                <a:solidFill>
                  <a:srgbClr val="000000"/>
                </a:solidFill>
                <a:latin typeface="Helvetica Neue"/>
                <a:ea typeface="Helvetica Neue"/>
                <a:cs typeface="Helvetica Neue"/>
              </a:defRPr>
            </a:pPr>
            <a:r>
              <a:rPr sz="5700" b="1">
                <a:solidFill>
                  <a:srgbClr val="121510"/>
                </a:solidFill>
                <a:latin typeface="Aptos"/>
                <a:ea typeface="Aptos"/>
                <a:cs typeface="Aptos"/>
              </a:rPr>
              <a:t>Evidence
before merge.</a:t>
            </a:r>
          </a:p>
        </p:txBody>
      </p:sp>
      <p:sp>
        <p:nvSpPr>
          <p:cNvPr id="2" name="Subtitle-4-2">
            <a:extLst xmlns:a="http://schemas.openxmlformats.org/drawingml/2006/main">
              <a:ext uri="{FF2B5EF4-FFF2-40B4-BE49-F238E27FC236}">
                <a16:creationId xmlns:a16="http://schemas.microsoft.com/office/drawing/2014/main" id="{1E400C73-9C5B-40DE-8A57-D9733F363A61}"/>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650" b="1">
                <a:solidFill>
                  <a:srgbClr val="121510"/>
                </a:solidFill>
                <a:latin typeface="Aptos"/>
                <a:ea typeface="Aptos"/>
                <a:cs typeface="Aptos"/>
              </a:rPr>
              <a:t>Deterministic verification</a:t>
            </a:r>
          </a:p>
          <a:p xmlns:a="http://schemas.openxmlformats.org/drawingml/2006/main">
            <a:pPr algn="l">
              <a:lnSpc>
                <a:spcPct val="105000"/>
              </a:lnSpc>
              <a:buNone/>
              <a:defRPr sz="2400">
                <a:solidFill>
                  <a:srgbClr val="000000"/>
                </a:solidFill>
                <a:latin typeface="Helvetica Neue"/>
                <a:ea typeface="Helvetica Neue"/>
                <a:cs typeface="Helvetica Neue"/>
              </a:defRPr>
            </a:pPr>
            <a:r>
              <a:rPr sz="1650" b="1">
                <a:solidFill>
                  <a:srgbClr val="121510"/>
                </a:solidFill>
                <a:latin typeface="Aptos"/>
                <a:ea typeface="Aptos"/>
                <a:cs typeface="Aptos"/>
              </a:rPr>
              <a:t>No runtime API required</a:t>
            </a:r>
          </a:p>
          <a:p xmlns:a="http://schemas.openxmlformats.org/drawingml/2006/main">
            <a:pPr algn="l">
              <a:lnSpc>
                <a:spcPct val="105000"/>
              </a:lnSpc>
              <a:buNone/>
              <a:defRPr sz="2400">
                <a:solidFill>
                  <a:srgbClr val="000000"/>
                </a:solidFill>
                <a:latin typeface="Helvetica Neue"/>
                <a:ea typeface="Helvetica Neue"/>
                <a:cs typeface="Helvetica Neue"/>
              </a:defRPr>
            </a:pPr>
            <a:r>
              <a:rPr sz="1650" b="1">
                <a:solidFill>
                  <a:srgbClr val="121510"/>
                </a:solidFill>
                <a:latin typeface="Aptos"/>
                <a:ea typeface="Aptos"/>
                <a:cs typeface="Aptos"/>
              </a:rPr>
              <a:t>Receipts judges can inspect</a:t>
            </a:r>
          </a:p>
        </p:txBody>
      </p:sp>
      <p:sp>
        <p:nvSpPr>
          <p:cNvPr id="3" name="Subtitle-4-3">
            <a:extLst xmlns:a="http://schemas.openxmlformats.org/drawingml/2006/main">
              <a:ext uri="{FF2B5EF4-FFF2-40B4-BE49-F238E27FC236}">
                <a16:creationId xmlns:a16="http://schemas.microsoft.com/office/drawing/2014/main" id="{666DBAA8-7D4F-4C95-85BD-32F4A836B43C}"/>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buNone/>
              <a:defRPr sz="2400">
                <a:solidFill>
                  <a:srgbClr val="000000"/>
                </a:solidFill>
                <a:latin typeface="Helvetica Neue"/>
                <a:ea typeface="Helvetica Neue"/>
                <a:cs typeface="Helvetica Neue"/>
              </a:defRPr>
            </a:pPr>
            <a:r>
              <a:rPr sz="1350" b="1">
                <a:solidFill>
                  <a:srgbClr val="5B6256"/>
                </a:solidFill>
                <a:latin typeface="Aptos"/>
                <a:ea typeface="Aptos"/>
                <a:cs typeface="Aptos"/>
              </a:rPr>
              <a:t>BUILT WITH CODEX</a:t>
            </a:r>
          </a:p>
        </p:txBody>
      </p:sp>
      <p:sp>
        <p:nvSpPr>
          <p:cNvPr id="4" name="close-accent">
            <a:extLst xmlns:a="http://schemas.openxmlformats.org/drawingml/2006/main">
              <a:ext uri="{FF2B5EF4-FFF2-40B4-BE49-F238E27FC236}">
                <a16:creationId xmlns:a16="http://schemas.microsoft.com/office/drawing/2014/main" id="{3586D19E-4831-48BE-BC01-B140C1BD4476}"/>
              </a:ext>
            </a:extLst>
          </p:cNvPr>
          <p:cNvSpPr>
            <a:spLocks xmlns:a="http://schemas.openxmlformats.org/drawingml/2006/main" noGrp="1"/>
          </p:cNvSpPr>
          <p:nvPr/>
        </p:nvSpPr>
        <p:spPr>
          <a:xfrm xmlns:a="http://schemas.openxmlformats.org/drawingml/2006/main">
            <a:off x="390525" y="4391025"/>
            <a:ext cx="8191500" cy="133350"/>
          </a:xfrm>
          <a:prstGeom xmlns:a="http://schemas.openxmlformats.org/drawingml/2006/main" prst="rect">
            <a:avLst/>
          </a:prstGeom>
          <a:solidFill xmlns:a="http://schemas.openxmlformats.org/drawingml/2006/main">
            <a:srgbClr val="C7FF38"/>
          </a:solidFill>
          <a:ln xmlns:a="http://schemas.openxmlformats.org/drawingml/2006/main" w="0">
            <a:solidFill>
              <a:srgbClr val="C7FF38"/>
            </a:solidFill>
            <a:prstDash val="solid"/>
          </a:ln>
        </p:spPr>
      </p:sp>
    </p:spTree>
    <p:extLst>
      <p:ext uri="{BB962C8B-B14F-4D97-AF65-F5344CB8AC3E}">
        <p14:creationId xmlns:p14="http://schemas.microsoft.com/office/powerpoint/2010/main" val="1722828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2026-08-02T20:31:32.3360000Z</dcterms:created>
  <dcterms:modified xsi:type="dcterms:W3CDTF">2026-08-02T20:31:32.3360000Z</dcterms:modified>
</coreProperties>
</file>
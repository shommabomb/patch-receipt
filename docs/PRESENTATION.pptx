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2b2d86c13d14bd2" /><Relationship Type="http://schemas.openxmlformats.org/officeDocument/2006/relationships/extended-properties" Target="/docProps/app.xml" Id="R96f07f74b16d4b33" /><Relationship Type="http://schemas.openxmlformats.org/officeDocument/2006/relationships/officeDocument" Target="/ppt/presentation.xml" Id="R3ceaa50e112c43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0cad03351a4e27"/>
  </p:sldMasterIdLst>
  <p:notesMasterIdLst>
    <p:notesMasterId xmlns:r="http://schemas.openxmlformats.org/officeDocument/2006/relationships" r:id="R4f686b629bb24571"/>
  </p:notesMasterIdLst>
  <p:sldIdLst>
    <p:sldId xmlns:r="http://schemas.openxmlformats.org/officeDocument/2006/relationships" id="256" r:id="Rebc4521942a4471e"/>
    <p:sldId xmlns:r="http://schemas.openxmlformats.org/officeDocument/2006/relationships" id="257" r:id="Rfa1d55c585894423"/>
    <p:sldId xmlns:r="http://schemas.openxmlformats.org/officeDocument/2006/relationships" id="258" r:id="Rfb669c00a7dd4af2"/>
    <p:sldId xmlns:r="http://schemas.openxmlformats.org/officeDocument/2006/relationships" id="259" r:id="Ra0bde153fee34a1d"/>
    <p:sldId xmlns:r="http://schemas.openxmlformats.org/officeDocument/2006/relationships" id="260" r:id="R9e9e0cdc0ad74550"/>
    <p:sldId xmlns:r="http://schemas.openxmlformats.org/officeDocument/2006/relationships" id="261" r:id="R1796cd091e8b441f"/>
    <p:sldId xmlns:r="http://schemas.openxmlformats.org/officeDocument/2006/relationships" id="262" r:id="R1d8b16cad42a4b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711a313fb54640" /><Relationship Type="http://schemas.openxmlformats.org/officeDocument/2006/relationships/slideMaster" Target="/ppt/slideMasters/slideMaster1.xml" Id="R330cad03351a4e27" /><Relationship Type="http://schemas.openxmlformats.org/officeDocument/2006/relationships/notesMaster" Target="/ppt/notesMasters/notesMaster1.xml" Id="R4f686b629bb24571" /><Relationship Type="http://schemas.openxmlformats.org/officeDocument/2006/relationships/presProps" Target="/ppt/presProps.xml" Id="R91cdc900ad174e3d" /><Relationship Type="http://schemas.openxmlformats.org/officeDocument/2006/relationships/tableStyles" Target="/ppt/tableStyles.xml" Id="R24e7f0072e6a47cc" /><Relationship Type="http://schemas.openxmlformats.org/officeDocument/2006/relationships/slide" Target="/ppt/slides/slide1.xml" Id="Rebc4521942a4471e" /><Relationship Type="http://schemas.openxmlformats.org/officeDocument/2006/relationships/slide" Target="/ppt/slides/slide2.xml" Id="Rfa1d55c585894423" /><Relationship Type="http://schemas.openxmlformats.org/officeDocument/2006/relationships/slide" Target="/ppt/slides/slide3.xml" Id="Rfb669c00a7dd4af2" /><Relationship Type="http://schemas.openxmlformats.org/officeDocument/2006/relationships/slide" Target="/ppt/slides/slide4.xml" Id="Ra0bde153fee34a1d" /><Relationship Type="http://schemas.openxmlformats.org/officeDocument/2006/relationships/slide" Target="/ppt/slides/slide5.xml" Id="R9e9e0cdc0ad74550" /><Relationship Type="http://schemas.openxmlformats.org/officeDocument/2006/relationships/slide" Target="/ppt/slides/slide6.xml" Id="R1796cd091e8b441f" /><Relationship Type="http://schemas.openxmlformats.org/officeDocument/2006/relationships/slide" Target="/ppt/slides/slide7.xml" Id="R1d8b16cad42a4b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0d7c73d5a34a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76d329329941a4" /><Relationship Type="http://schemas.openxmlformats.org/officeDocument/2006/relationships/notesMaster" Target="/ppt/notesMasters/notesMaster1.xml" Id="R1aec92baed354c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c21a8b5c4847fd" /><Relationship Type="http://schemas.openxmlformats.org/officeDocument/2006/relationships/notesMaster" Target="/ppt/notesMasters/notesMaster1.xml" Id="R3fda56823abf40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972e3b46e543b1" /><Relationship Type="http://schemas.openxmlformats.org/officeDocument/2006/relationships/notesMaster" Target="/ppt/notesMasters/notesMaster1.xml" Id="Rf1020652993241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d72ad58cb24246" /><Relationship Type="http://schemas.openxmlformats.org/officeDocument/2006/relationships/notesMaster" Target="/ppt/notesMasters/notesMaster1.xml" Id="R88716b04ce2742b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98a9a3f9764803" /><Relationship Type="http://schemas.openxmlformats.org/officeDocument/2006/relationships/notesMaster" Target="/ppt/notesMasters/notesMaster1.xml" Id="R565990d3dc2845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5f9c453c424ff5" /><Relationship Type="http://schemas.openxmlformats.org/officeDocument/2006/relationships/notesMaster" Target="/ppt/notesMasters/notesMaster1.xml" Id="Rdc961607ded940d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56edcbccb949a9" /><Relationship Type="http://schemas.openxmlformats.org/officeDocument/2006/relationships/notesMaster" Target="/ppt/notesMasters/notesMaster1.xml" Id="R8e31ab24ca284a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coding systems are fast at producing patches. PatchReceipt supplies the missing deterministic evidence layer: proof before merge.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around evidence quality, not distrust of AI. Existing tests are necessary, but they are not independent proof of the patch.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https://pitest.org/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plausible candidate live. The baseline bug is reproduced and the apparent fix passes, but independent case-variant and conflicting-value checks fail. Then open the robust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evidence: target/evaluation-receipts/*.json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verdict is gate-based. A correctness or safety failure always rejects. Partial means correctness passed but confidence is incomplete. Verified requires every mandatory evidence item.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architecture: docs/ARCHITECTURE.md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describe the container as an arbitrary-code sandbox. The hosted safety claim comes primarily from executing only bundled, hash-allowlisted fixtures.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threat model: docs/SECURITY.md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figures are generated from the current local build. The 27-second figure is the observed robust public-candidate run; deployed p95 remains pending until the service is hosted.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evidence: docs/EVALUATION.md</a:t>
            </a:r>
          </a:p>
          <a:p xmlns:a="http://schemas.openxmlformats.org/drawingml/2006/main">
            <a:r>
              <a:t>- Local evidence: target/evaluation-receipts/summary.txt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proposition. Codex planned, implemented, tested, debugged, evaluated, documented and prepared the deployment. Claude is used only as an independent review channel through an auditable handoff.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evidence: CODEX_JOURNAL.md</a:t>
            </a:r>
          </a:p>
          <a:p xmlns:a="http://schemas.openxmlformats.org/drawingml/2006/main">
            <a:r>
              <a:t>- Local handoff: CLAUDE_HANDOFF.md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e0ccbc09ca43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72290a7f3c7411b" /><Relationship Type="http://schemas.openxmlformats.org/officeDocument/2006/relationships/slideLayout" Target="/ppt/slideLayouts/slideLayout1.xml" Id="R04cdc3eb2792481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cdc3eb2792481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30e3e4ee564060" /><Relationship Type="http://schemas.openxmlformats.org/officeDocument/2006/relationships/notesSlide" Target="/ppt/notesSlides/notesSlide1.xml" Id="Rab9bd9efd2a24e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7c4314da0045b2" /><Relationship Type="http://schemas.openxmlformats.org/officeDocument/2006/relationships/notesSlide" Target="/ppt/notesSlides/notesSlide2.xml" Id="Rca7d9d05acbc4c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3494fa4ef4f77" /><Relationship Type="http://schemas.openxmlformats.org/officeDocument/2006/relationships/notesSlide" Target="/ppt/notesSlides/notesSlide3.xml" Id="Rca79515bb53e45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7f665ea53949c3" /><Relationship Type="http://schemas.openxmlformats.org/officeDocument/2006/relationships/notesSlide" Target="/ppt/notesSlides/notesSlide4.xml" Id="R4c3055bed4f54bf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95e1ffe5d647a9" /><Relationship Type="http://schemas.openxmlformats.org/officeDocument/2006/relationships/notesSlide" Target="/ppt/notesSlides/notesSlide5.xml" Id="R631e6c4fff81480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822ec456194034" /><Relationship Type="http://schemas.openxmlformats.org/officeDocument/2006/relationships/notesSlide" Target="/ppt/notesSlides/notesSlide6.xml" Id="R9f5834e06eaf48e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27cf643069436f" /><Relationship Type="http://schemas.openxmlformats.org/officeDocument/2006/relationships/notesSlide" Target="/ppt/notesSlides/notesSlide7.xml" Id="R1094f42903bd4ba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5D8E785A-F8E2-432F-B0B2-881489CB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PatchReceipt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24001B92-523B-420B-B721-3113F5B3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Codex writes the patch.
PatchReceipt proves whether it deserves to ship.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A39B2FFE-BF95-42D5-9332-CA3AB1C2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CHATGPT CODEX HACKATHON 2026</a:t>
            </a:r>
          </a:p>
        </p:txBody>
      </p:sp>
      <p:sp>
        <p:nvSpPr>
          <p:cNvPr id="4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B4799D49-A67C-4AEB-BCF9-5CDB5BCE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8858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766432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DCA9E71D-203E-452D-9EC6-034361957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E3419BF7-0752-443F-9F81-2BCAD68E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6442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A green test suite is not proof</a:t>
            </a:r>
          </a:p>
        </p:txBody>
      </p:sp>
      <p:sp>
        <p:nvSpPr>
          <p:cNvPr id="3" name="Rounded-Rectangle-1-4">
            <a:extLst xmlns:a="http://schemas.openxmlformats.org/drawingml/2006/main">
              <a:ext uri="{FF2B5EF4-FFF2-40B4-BE49-F238E27FC236}">
                <a16:creationId xmlns:a16="http://schemas.microsoft.com/office/drawing/2014/main" id="{5856B0BA-0552-45FA-9569-DBAE77F9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02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9B3C9FC3-82C2-4AF0-92B0-A127D1D9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Ordinary CI</a:t>
            </a:r>
          </a:p>
        </p:txBody>
      </p:sp>
      <p:sp>
        <p:nvSpPr>
          <p:cNvPr id="5" name="Content-Placeholder-15-6">
            <a:extLst xmlns:a="http://schemas.openxmlformats.org/drawingml/2006/main">
              <a:ext uri="{FF2B5EF4-FFF2-40B4-BE49-F238E27FC236}">
                <a16:creationId xmlns:a16="http://schemas.microsoft.com/office/drawing/2014/main" id="{D9B2A31F-6F41-49E0-B0D8-C3084954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✓ Existing tests pass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E65C4F"/>
                </a:solidFill>
                <a:latin typeface="Aptos"/>
                <a:ea typeface="Aptos"/>
                <a:cs typeface="Aptos"/>
              </a:rPr>
              <a:t>✗ Bug may not be reproduced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E65C4F"/>
                </a:solidFill>
                <a:latin typeface="Aptos"/>
                <a:ea typeface="Aptos"/>
                <a:cs typeface="Aptos"/>
              </a:rPr>
              <a:t>✗ No proof of test strength</a:t>
            </a:r>
          </a:p>
        </p:txBody>
      </p:sp>
      <p:sp>
        <p:nvSpPr>
          <p:cNvPr id="6" name="Rounded-Rectangle-7-7">
            <a:extLst xmlns:a="http://schemas.openxmlformats.org/drawingml/2006/main">
              <a:ext uri="{FF2B5EF4-FFF2-40B4-BE49-F238E27FC236}">
                <a16:creationId xmlns:a16="http://schemas.microsoft.com/office/drawing/2014/main" id="{2F7C41C9-3368-4028-A1F7-A5E4AF3C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3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10587AC2-1E9E-4C5E-A428-A9CFACED6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PatchReceipt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FC4B24C6-E483-4407-B1A3-AE0E139E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✓ Proves before → after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✓ Sealed edge cases + PIT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✓ Scope and evidence receipt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8C9AE5F7-5B92-4552-B7F9-22683331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157478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THE GAP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AI patches can satisfy the reported example while failing retries, casing, mutation pressure, or scope policy.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Reviewers need evidence that is reproducible, independent, and explainable.</a:t>
            </a:r>
          </a:p>
        </p:txBody>
      </p:sp>
      <p:sp>
        <p:nvSpPr>
          <p:cNvPr id="10" name="ci-warning">
            <a:extLst xmlns:a="http://schemas.openxmlformats.org/drawingml/2006/main">
              <a:ext uri="{FF2B5EF4-FFF2-40B4-BE49-F238E27FC236}">
                <a16:creationId xmlns:a16="http://schemas.microsoft.com/office/drawing/2014/main" id="{0D08EB29-B71D-4555-82A9-1FCC5C7F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43275"/>
            <a:ext cx="5534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C4F"/>
          </a:solidFill>
          <a:ln xmlns:a="http://schemas.openxmlformats.org/drawingml/2006/main" w="0">
            <a:solidFill>
              <a:srgbClr val="E65C4F"/>
            </a:solidFill>
            <a:prstDash val="solid"/>
          </a:ln>
        </p:spPr>
      </p:sp>
      <p:sp>
        <p:nvSpPr>
          <p:cNvPr id="11" name="receipt-proof">
            <a:extLst xmlns:a="http://schemas.openxmlformats.org/drawingml/2006/main">
              <a:ext uri="{FF2B5EF4-FFF2-40B4-BE49-F238E27FC236}">
                <a16:creationId xmlns:a16="http://schemas.microsoft.com/office/drawing/2014/main" id="{EEFEB42E-BA4D-42C1-AD0D-5BCF975B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343275"/>
            <a:ext cx="5534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469208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237966BA-FF38-444E-ADFE-14905F6F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C34D365-073D-4D9E-B2C5-435AB9D4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12830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One bug. Three plausible patches. Three defensible verdicts.</a:t>
            </a:r>
          </a:p>
        </p:txBody>
      </p:sp>
      <p:sp>
        <p:nvSpPr>
          <p:cNvPr id="3" name="Rounded-Rectangle-9-4">
            <a:extLst xmlns:a="http://schemas.openxmlformats.org/drawingml/2006/main">
              <a:ext uri="{FF2B5EF4-FFF2-40B4-BE49-F238E27FC236}">
                <a16:creationId xmlns:a16="http://schemas.microsoft.com/office/drawing/2014/main" id="{A8ECE143-737A-4C13-B955-2EA805A2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92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ounded-Rectangle-10-5">
            <a:extLst xmlns:a="http://schemas.openxmlformats.org/drawingml/2006/main">
              <a:ext uri="{FF2B5EF4-FFF2-40B4-BE49-F238E27FC236}">
                <a16:creationId xmlns:a16="http://schemas.microsoft.com/office/drawing/2014/main" id="{200146A2-DA6D-404E-851B-BA3153D8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670F090E-830A-447D-B857-5E02C3DB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816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EAB84B"/>
                </a:solidFill>
                <a:latin typeface="Aptos"/>
                <a:ea typeface="Aptos"/>
                <a:cs typeface="Aptos"/>
              </a:rPr>
              <a:t>PARTIAL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Correct result, but an unrelated production file changed.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4E02E602-2D6F-49D7-B6ED-EFC43028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611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VERIFIED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9/9 edge cases, 4/4 mutants, clean declared scope.</a:t>
            </a:r>
          </a:p>
        </p:txBody>
      </p:sp>
      <p:sp>
        <p:nvSpPr>
          <p:cNvPr id="7" name="Google-Shape-340-p61-8">
            <a:extLst xmlns:a="http://schemas.openxmlformats.org/drawingml/2006/main">
              <a:ext uri="{FF2B5EF4-FFF2-40B4-BE49-F238E27FC236}">
                <a16:creationId xmlns:a16="http://schemas.microsoft.com/office/drawing/2014/main" id="{8219EEF6-8642-44B8-AF69-68BEFCE3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626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3723D5E6-7A3D-443A-8165-48065D7C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3257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Rounded-Rectangle-5-10">
            <a:extLst xmlns:a="http://schemas.openxmlformats.org/drawingml/2006/main">
              <a:ext uri="{FF2B5EF4-FFF2-40B4-BE49-F238E27FC236}">
                <a16:creationId xmlns:a16="http://schemas.microsoft.com/office/drawing/2014/main" id="{88C4A530-F8E1-451D-A906-230BA8EBC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34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AE620DC1-1AED-43D8-8BA9-D486CC50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13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E65C4F"/>
                </a:solidFill>
                <a:latin typeface="Aptos"/>
                <a:ea typeface="Aptos"/>
                <a:cs typeface="Aptos"/>
              </a:rPr>
              <a:t>REJECTED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distinct() passes the obvious case; 3 edge cases expose it.</a:t>
            </a:r>
          </a:p>
        </p:txBody>
      </p:sp>
      <p:sp>
        <p:nvSpPr>
          <p:cNvPr id="11" name="Google-Shape-340-p61-12">
            <a:extLst xmlns:a="http://schemas.openxmlformats.org/drawingml/2006/main">
              <a:ext uri="{FF2B5EF4-FFF2-40B4-BE49-F238E27FC236}">
                <a16:creationId xmlns:a16="http://schemas.microsoft.com/office/drawing/2014/main" id="{5F25BFFE-A009-4843-A075-54C192DB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41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2" name="Content-Placeholder-15-13">
            <a:extLst xmlns:a="http://schemas.openxmlformats.org/drawingml/2006/main">
              <a:ext uri="{FF2B5EF4-FFF2-40B4-BE49-F238E27FC236}">
                <a16:creationId xmlns:a16="http://schemas.microsoft.com/office/drawing/2014/main" id="{8F07CC51-CE75-4B22-ADFD-AA6D1FCD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50562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BUNDLED CHECKOUT BUG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Retried checkout requests must apply each case-insensitive coupon code once.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The verifier pack is sealed before candidates run.</a:t>
            </a:r>
          </a:p>
        </p:txBody>
      </p:sp>
      <p:sp>
        <p:nvSpPr>
          <p:cNvPr id="13" name="card-stripe-40.77">
            <a:extLst xmlns:a="http://schemas.openxmlformats.org/drawingml/2006/main">
              <a:ext uri="{FF2B5EF4-FFF2-40B4-BE49-F238E27FC236}">
                <a16:creationId xmlns:a16="http://schemas.microsoft.com/office/drawing/2014/main" id="{0C72B74D-745A-4CE2-9FB7-B38E9133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34" y="3365468"/>
            <a:ext cx="3568732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C4F"/>
          </a:solidFill>
          <a:ln xmlns:a="http://schemas.openxmlformats.org/drawingml/2006/main" w="0">
            <a:solidFill>
              <a:srgbClr val="E65C4F"/>
            </a:solidFill>
            <a:prstDash val="solid"/>
          </a:ln>
        </p:spPr>
      </p:sp>
      <p:sp>
        <p:nvSpPr>
          <p:cNvPr id="14" name="card-stripe-452.38">
            <a:extLst xmlns:a="http://schemas.openxmlformats.org/drawingml/2006/main">
              <a:ext uri="{FF2B5EF4-FFF2-40B4-BE49-F238E27FC236}">
                <a16:creationId xmlns:a16="http://schemas.microsoft.com/office/drawing/2014/main" id="{E76A436D-DEAA-4CFE-966E-4E131F40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920" y="3365468"/>
            <a:ext cx="3568732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B84B"/>
          </a:solidFill>
          <a:ln xmlns:a="http://schemas.openxmlformats.org/drawingml/2006/main" w="0">
            <a:solidFill>
              <a:srgbClr val="EAB84B"/>
            </a:solidFill>
            <a:prstDash val="solid"/>
          </a:ln>
        </p:spPr>
      </p:sp>
      <p:sp>
        <p:nvSpPr>
          <p:cNvPr id="15" name="card-stripe-864">
            <a:extLst xmlns:a="http://schemas.openxmlformats.org/drawingml/2006/main">
              <a:ext uri="{FF2B5EF4-FFF2-40B4-BE49-F238E27FC236}">
                <a16:creationId xmlns:a16="http://schemas.microsoft.com/office/drawing/2014/main" id="{0D95F759-392F-4B1D-A7D5-34FC506C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112248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3101B474-27F5-4646-8CD1-D2226641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FA980210-55A4-45B7-BF1F-77328CFBF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One ordered proof pipeline, not a trust score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3373755"/>
            <a:ext cx="1145857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D65496E2-CA6A-4DB8-A930-CB70760F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D4A8B76E-8FE5-48AD-9E95-A4A4B44C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8E97C8C3-22C4-4C79-A49D-38501D895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FF5E1490-0556-42ED-B683-36CA1629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BEFORE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55DFB8EA-CC1F-43F2-8B7B-E977167F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AFTER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AD754F18-4152-4ADC-A601-85A3BF67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8E696584-3C24-4504-B124-93C8D5ED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Challenge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Regression + 9 edges
Changed-line mutation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FA55FF9E-1B9A-496D-9F1F-56DFAB13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Reproduce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Healthy baseline
Expected assertion fails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B459E417-B543-4B52-BEC6-30F37F95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Receipt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Scope policy + hashes
HTML · Markdown · JSON</a:t>
            </a:r>
          </a:p>
        </p:txBody>
      </p:sp>
      <p:sp>
        <p:nvSpPr>
          <p:cNvPr id="13" name="pipeline-accent-35.46">
            <a:extLst xmlns:a="http://schemas.openxmlformats.org/drawingml/2006/main">
              <a:ext uri="{FF2B5EF4-FFF2-40B4-BE49-F238E27FC236}">
                <a16:creationId xmlns:a16="http://schemas.microsoft.com/office/drawing/2014/main" id="{A39B27D3-CCCE-44D7-82F0-5DAE411A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57" y="3281363"/>
            <a:ext cx="180975" cy="1809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9525">
            <a:solidFill>
              <a:srgbClr val="121510"/>
            </a:solidFill>
            <a:prstDash val="solid"/>
          </a:ln>
        </p:spPr>
      </p:sp>
      <p:sp>
        <p:nvSpPr>
          <p:cNvPr id="14" name="pipeline-accent-446.38">
            <a:extLst xmlns:a="http://schemas.openxmlformats.org/drawingml/2006/main">
              <a:ext uri="{FF2B5EF4-FFF2-40B4-BE49-F238E27FC236}">
                <a16:creationId xmlns:a16="http://schemas.microsoft.com/office/drawing/2014/main" id="{73600B1E-0E75-430F-909D-92B81F52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670" y="3281363"/>
            <a:ext cx="180975" cy="1809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9525">
            <a:solidFill>
              <a:srgbClr val="121510"/>
            </a:solidFill>
            <a:prstDash val="solid"/>
          </a:ln>
        </p:spPr>
      </p:sp>
      <p:sp>
        <p:nvSpPr>
          <p:cNvPr id="15" name="pipeline-accent-858.38">
            <a:extLst xmlns:a="http://schemas.openxmlformats.org/drawingml/2006/main">
              <a:ext uri="{FF2B5EF4-FFF2-40B4-BE49-F238E27FC236}">
                <a16:creationId xmlns:a16="http://schemas.microsoft.com/office/drawing/2014/main" id="{4C1C2836-91EB-4BD7-B156-FB9EAD2F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7970" y="3281363"/>
            <a:ext cx="180975" cy="1809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9525">
            <a:solidFill>
              <a:srgbClr val="12151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617094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03189C6B-19CC-4898-848D-4118B6CA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E160D629-B999-42D6-833C-4ACB6479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Useful offline. Honest about its safety boundary.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941CEBBD-2224-4B10-925F-8127F76D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No runtime AI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JGit, Maven, JUnit, PIT and fixed verdict rules. No key. No credits.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F8A9BA7B-D737-4AB3-981D-CB7CF1915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Allowlisted hosting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Public API accepts only bundled caseId + patchId pairs.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4197D2F9-C2B8-498D-AB78-77DA127C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Bounded execution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Single worker, queue cap, timeouts, memory and log limits.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3A0016EC-9F66-4C8E-948F-B88277B26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Trusted local CLI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B6256"/>
                </a:solidFill>
                <a:latin typeface="Aptos"/>
                <a:ea typeface="Aptos"/>
                <a:cs typeface="Aptos"/>
              </a:rPr>
              <a:t>Refuses to execute unless the user passes an explicit safety flag.</a:t>
            </a:r>
          </a:p>
        </p:txBody>
      </p:sp>
      <p:sp>
        <p:nvSpPr>
          <p:cNvPr id="7" name="section-NO API KEY">
            <a:extLst xmlns:a="http://schemas.openxmlformats.org/drawingml/2006/main">
              <a:ext uri="{FF2B5EF4-FFF2-40B4-BE49-F238E27FC236}">
                <a16:creationId xmlns:a16="http://schemas.microsoft.com/office/drawing/2014/main" id="{E94CE6C5-5C0A-48B1-8546-1BF8C2CD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00050"/>
            <a:ext cx="12858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21510"/>
                </a:solidFill>
              </a:defRPr>
            </a:pPr>
            <a:r>
              <a:rPr sz="975" b="1">
                <a:solidFill>
                  <a:srgbClr val="121510"/>
                </a:solidFill>
              </a:rPr>
              <a:t>NO API KEY</a:t>
            </a:r>
          </a:p>
        </p:txBody>
      </p:sp>
    </p:spTree>
    <p:extLst>
      <p:ext uri="{BB962C8B-B14F-4D97-AF65-F5344CB8AC3E}">
        <p14:creationId xmlns:p14="http://schemas.microsoft.com/office/powerpoint/2010/main" val="20277227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718468DD-8DA7-4683-8668-FC241C3B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BA664F8B-FAEB-4A65-A570-7B889CC3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7EA9A9BB-4948-4EAA-8338-D689E07FE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3146A2B9-AE7C-497F-A172-662B3D67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CAF4A7D9-7749-484F-941D-95B700045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Measured evidence from the six-patch corpus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99EE0388-456F-46CE-A1BF-511A1362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expected verdicts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7C30EFA5-7CF7-4BF2-B289-F6A2103F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robust local run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1F107739-4322-44D2-B1ED-039E7937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unsafe VERIFIED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C44AD243-FBD0-49D5-B575-26CD9D8D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6 / 6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075C9DAF-772C-4C1D-AE44-9785F6E1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72A80942-6FFE-44BD-8A41-644F7C704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27 s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8C3749D5-0C5F-49AD-8E69-1D6C0248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LOCAL EVALUATION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21510"/>
                </a:solidFill>
                <a:latin typeface="Aptos"/>
                <a:ea typeface="Aptos"/>
                <a:cs typeface="Aptos"/>
              </a:rPr>
              <a:t>Two robust patches, one drifting patch, one edge-case trap, one build bypass, and one compile break.</a:t>
            </a:r>
          </a:p>
        </p:txBody>
      </p:sp>
      <p:sp>
        <p:nvSpPr>
          <p:cNvPr id="13" name="section-MACHINE READABLE">
            <a:extLst xmlns:a="http://schemas.openxmlformats.org/drawingml/2006/main">
              <a:ext uri="{FF2B5EF4-FFF2-40B4-BE49-F238E27FC236}">
                <a16:creationId xmlns:a16="http://schemas.microsoft.com/office/drawing/2014/main" id="{97D7C51B-4244-485A-AEB0-9FA49605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00050"/>
            <a:ext cx="12858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21510"/>
                </a:solidFill>
              </a:defRPr>
            </a:pPr>
            <a:r>
              <a:rPr sz="975" b="1">
                <a:solidFill>
                  <a:srgbClr val="121510"/>
                </a:solidFill>
              </a:rPr>
              <a:t>MACHINE READABLE</a:t>
            </a:r>
          </a:p>
        </p:txBody>
      </p:sp>
      <p:sp>
        <p:nvSpPr>
          <p:cNvPr id="14" name="metric-accent-41.33">
            <a:extLst xmlns:a="http://schemas.openxmlformats.org/drawingml/2006/main">
              <a:ext uri="{FF2B5EF4-FFF2-40B4-BE49-F238E27FC236}">
                <a16:creationId xmlns:a16="http://schemas.microsoft.com/office/drawing/2014/main" id="{4B970068-82DD-4E4E-989A-611B1F26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</p:sp>
      <p:sp>
        <p:nvSpPr>
          <p:cNvPr id="15" name="metric-accent-452.67">
            <a:extLst xmlns:a="http://schemas.openxmlformats.org/drawingml/2006/main">
              <a:ext uri="{FF2B5EF4-FFF2-40B4-BE49-F238E27FC236}">
                <a16:creationId xmlns:a16="http://schemas.microsoft.com/office/drawing/2014/main" id="{50761B81-0B18-41EA-A7BC-4EF0D6FF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</p:sp>
      <p:sp>
        <p:nvSpPr>
          <p:cNvPr id="16" name="metric-accent-864.28">
            <a:extLst xmlns:a="http://schemas.openxmlformats.org/drawingml/2006/main">
              <a:ext uri="{FF2B5EF4-FFF2-40B4-BE49-F238E27FC236}">
                <a16:creationId xmlns:a16="http://schemas.microsoft.com/office/drawing/2014/main" id="{2FAF153E-D23C-48ED-8722-AF8243F8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945169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478C9E58-7860-458F-AE59-FC4C31D0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Evidence
before merge.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1E400C73-9C5B-40DE-8A57-D9733F36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Deterministic verification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No runtime API required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21510"/>
                </a:solidFill>
                <a:latin typeface="Aptos"/>
                <a:ea typeface="Aptos"/>
                <a:cs typeface="Aptos"/>
              </a:rPr>
              <a:t>Receipts judges can inspect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666DBAA8-7D4F-4C95-85BD-32F4A836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B6256"/>
                </a:solidFill>
                <a:latin typeface="Aptos"/>
                <a:ea typeface="Aptos"/>
                <a:cs typeface="Aptos"/>
              </a:rPr>
              <a:t>BUILT WITH CODEX</a:t>
            </a:r>
          </a:p>
        </p:txBody>
      </p:sp>
      <p:sp>
        <p:nvSpPr>
          <p:cNvPr id="4" name="close-accent">
            <a:extLst xmlns:a="http://schemas.openxmlformats.org/drawingml/2006/main">
              <a:ext uri="{FF2B5EF4-FFF2-40B4-BE49-F238E27FC236}">
                <a16:creationId xmlns:a16="http://schemas.microsoft.com/office/drawing/2014/main" id="{3586D19E-4831-48BE-BC01-B140C1BD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91025"/>
            <a:ext cx="819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FF38"/>
          </a:solidFill>
          <a:ln xmlns:a="http://schemas.openxmlformats.org/drawingml/2006/main" w="0">
            <a:solidFill>
              <a:srgbClr val="C7FF3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228282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2026-07-25T20:22:01.1350000Z</dcterms:created>
  <dcterms:modified xsi:type="dcterms:W3CDTF">2026-07-25T20:22:01.1360000Z</dcterms:modified>
</coreProperties>
</file>